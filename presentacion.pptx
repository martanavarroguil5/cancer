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36"/>
    <p:restoredTop sz="94668"/>
  </p:normalViewPr>
  <p:slideViewPr>
    <p:cSldViewPr snapToGrid="0">
      <p:cViewPr varScale="1">
        <p:scale>
          <a:sx n="140" d="100"/>
          <a:sy n="140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A5AB4-43CC-0BEC-C759-C84968A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791855-46DE-F695-A4FD-1CCAC154E8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1FFABAC2-0559-4885-A3B1-DDB08FC0A1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5929B4B-D1BD-403B-857E-4D2C9B9C67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6A0B41-5538-4320-83B9-670DFCACF682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2D0B77D-D5AE-4516-AFC6-6FD02EE9C8F3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ESTUDIO DE VIABILIDAD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F14EC8-976D-4B14-BE73-E4F027268852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85800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Predicción de diagnóstico</a:t>
            </a:r>
          </a:p>
          <a:p>
            <a:pPr algn="l">
              <a:defRPr sz="3450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de cáncer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5CE3C28-B01D-4FD7-962A-40DFB8A185E3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Comparativa de modelos ML y MLP para cribado clínico experimental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01B6DCA-A0DC-40C7-ACAD-2F221D320BB0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590550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0B75DC2-7D46-4F0D-BFA0-AAB82628D098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647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42722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342722"/>
                </a:solidFill>
                <a:latin typeface="Georgia"/>
                <a:ea typeface="Georgia"/>
                <a:cs typeface="Georgia"/>
              </a:rPr>
              <a:t>De 50.001 pacientes y seis fuentes de datos a una recomendación prudente: usar el modelo como priorizador de riesgo, no como diagnóstico autónomo.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E1B194D-735D-4A60-9944-6C3EB864AB2A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52400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2CDC2B4-A640-4E3A-909B-D728F043B672}"/>
              </a:ext>
            </a:extLst>
          </p:cNvPr>
          <p:cNvSpPr>
            <a:spLocks noGrp="1"/>
          </p:cNvSpPr>
          <p:nvPr/>
        </p:nvSpPr>
        <p:spPr>
          <a:xfrm>
            <a:off x="552450" y="5248275"/>
            <a:ext cx="1524000" cy="68580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C6E0D73-7328-4D93-A4D0-C3DC5EC920EB}"/>
              </a:ext>
            </a:extLst>
          </p:cNvPr>
          <p:cNvSpPr>
            <a:spLocks noGrp="1"/>
          </p:cNvSpPr>
          <p:nvPr/>
        </p:nvSpPr>
        <p:spPr>
          <a:xfrm>
            <a:off x="628650" y="53721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09F760C-8E8F-4E17-B67D-83307B7A634D}"/>
              </a:ext>
            </a:extLst>
          </p:cNvPr>
          <p:cNvSpPr>
            <a:spLocks noGrp="1"/>
          </p:cNvSpPr>
          <p:nvPr/>
        </p:nvSpPr>
        <p:spPr>
          <a:xfrm>
            <a:off x="628650" y="56959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PACIENTES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2DAFA00-FF22-456D-8805-54350284923E}"/>
              </a:ext>
            </a:extLst>
          </p:cNvPr>
          <p:cNvSpPr>
            <a:spLocks noGrp="1"/>
          </p:cNvSpPr>
          <p:nvPr/>
        </p:nvSpPr>
        <p:spPr>
          <a:xfrm>
            <a:off x="2324100" y="5219700"/>
            <a:ext cx="1524000" cy="28575"/>
          </a:xfrm>
          <a:prstGeom prst="rect">
            <a:avLst/>
          </a:prstGeom>
          <a:solidFill>
            <a:srgbClr val="4C5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E946769-DD67-4A34-BEA8-D6D703FD64C6}"/>
              </a:ext>
            </a:extLst>
          </p:cNvPr>
          <p:cNvSpPr>
            <a:spLocks noGrp="1"/>
          </p:cNvSpPr>
          <p:nvPr/>
        </p:nvSpPr>
        <p:spPr>
          <a:xfrm>
            <a:off x="2324100" y="5248275"/>
            <a:ext cx="1524000" cy="68580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209B84-31AE-4323-9B9D-A39FABBE73D6}"/>
              </a:ext>
            </a:extLst>
          </p:cNvPr>
          <p:cNvSpPr>
            <a:spLocks noGrp="1"/>
          </p:cNvSpPr>
          <p:nvPr/>
        </p:nvSpPr>
        <p:spPr>
          <a:xfrm>
            <a:off x="2400300" y="53721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13F7D1A-9D3E-425C-87A7-2B847694BD4A}"/>
              </a:ext>
            </a:extLst>
          </p:cNvPr>
          <p:cNvSpPr>
            <a:spLocks noGrp="1"/>
          </p:cNvSpPr>
          <p:nvPr/>
        </p:nvSpPr>
        <p:spPr>
          <a:xfrm>
            <a:off x="2400300" y="56959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F1 POSITIVO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E1C18CA-DAB9-4F08-A39F-C26E8CF852F7}"/>
              </a:ext>
            </a:extLst>
          </p:cNvPr>
          <p:cNvSpPr>
            <a:spLocks noGrp="1"/>
          </p:cNvSpPr>
          <p:nvPr/>
        </p:nvSpPr>
        <p:spPr>
          <a:xfrm>
            <a:off x="4095750" y="5219700"/>
            <a:ext cx="1524000" cy="28575"/>
          </a:xfrm>
          <a:prstGeom prst="rect">
            <a:avLst/>
          </a:prstGeom>
          <a:solidFill>
            <a:srgbClr val="A66B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AB3A693-8DE8-4703-8D17-8FB45C6EE22D}"/>
              </a:ext>
            </a:extLst>
          </p:cNvPr>
          <p:cNvSpPr>
            <a:spLocks noGrp="1"/>
          </p:cNvSpPr>
          <p:nvPr/>
        </p:nvSpPr>
        <p:spPr>
          <a:xfrm>
            <a:off x="4095750" y="5248275"/>
            <a:ext cx="1524000" cy="68580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18F8695-65F2-41B5-9161-C16AF1B7CF82}"/>
              </a:ext>
            </a:extLst>
          </p:cNvPr>
          <p:cNvSpPr>
            <a:spLocks noGrp="1"/>
          </p:cNvSpPr>
          <p:nvPr/>
        </p:nvSpPr>
        <p:spPr>
          <a:xfrm>
            <a:off x="4171950" y="53721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0,848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151DFC3-5D82-42F4-B26C-9B635565E745}"/>
              </a:ext>
            </a:extLst>
          </p:cNvPr>
          <p:cNvSpPr>
            <a:spLocks noGrp="1"/>
          </p:cNvSpPr>
          <p:nvPr/>
        </p:nvSpPr>
        <p:spPr>
          <a:xfrm>
            <a:off x="4171950" y="56959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AUC-ROC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88FD1E2-FA5F-46D4-ACD3-6538A892E460}"/>
              </a:ext>
            </a:extLst>
          </p:cNvPr>
          <p:cNvSpPr>
            <a:spLocks noGrp="1"/>
          </p:cNvSpPr>
          <p:nvPr/>
        </p:nvSpPr>
        <p:spPr>
          <a:xfrm>
            <a:off x="5867400" y="5219700"/>
            <a:ext cx="1524000" cy="28575"/>
          </a:xfrm>
          <a:prstGeom prst="rect">
            <a:avLst/>
          </a:prstGeom>
          <a:solidFill>
            <a:srgbClr val="2D46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D7239DE-0F6F-44A0-8D37-4E7FAD202292}"/>
              </a:ext>
            </a:extLst>
          </p:cNvPr>
          <p:cNvSpPr>
            <a:spLocks noGrp="1"/>
          </p:cNvSpPr>
          <p:nvPr/>
        </p:nvSpPr>
        <p:spPr>
          <a:xfrm>
            <a:off x="5867400" y="5248275"/>
            <a:ext cx="1524000" cy="68580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0422D44-A235-4024-8CD7-F8CA433B9DE1}"/>
              </a:ext>
            </a:extLst>
          </p:cNvPr>
          <p:cNvSpPr>
            <a:spLocks noGrp="1"/>
          </p:cNvSpPr>
          <p:nvPr/>
        </p:nvSpPr>
        <p:spPr>
          <a:xfrm>
            <a:off x="5943600" y="5372100"/>
            <a:ext cx="1371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F00AE89-F4CE-4533-B2E1-06A3EDC0D0E9}"/>
              </a:ext>
            </a:extLst>
          </p:cNvPr>
          <p:cNvSpPr>
            <a:spLocks noGrp="1"/>
          </p:cNvSpPr>
          <p:nvPr/>
        </p:nvSpPr>
        <p:spPr>
          <a:xfrm>
            <a:off x="5943600" y="569595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MODELO RECOMENDADO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FF3552E-D588-4866-98F9-2FA2B6AD05EB}"/>
              </a:ext>
            </a:extLst>
          </p:cNvPr>
          <p:cNvSpPr>
            <a:spLocks noGrp="1"/>
          </p:cNvSpPr>
          <p:nvPr/>
        </p:nvSpPr>
        <p:spPr>
          <a:xfrm>
            <a:off x="8096250" y="895350"/>
            <a:ext cx="3086100" cy="4629150"/>
          </a:xfrm>
          <a:prstGeom prst="rect">
            <a:avLst/>
          </a:prstGeom>
          <a:solidFill>
            <a:srgbClr val="FBF8F0">
              <a:alpha val="50196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1437C3D-DB13-4FE3-BAA2-20CC5F91F5CA}"/>
              </a:ext>
            </a:extLst>
          </p:cNvPr>
          <p:cNvSpPr>
            <a:spLocks noGrp="1"/>
          </p:cNvSpPr>
          <p:nvPr/>
        </p:nvSpPr>
        <p:spPr>
          <a:xfrm>
            <a:off x="8096250" y="895350"/>
            <a:ext cx="30861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FA780BD-DA68-4AF1-ABC4-E77246463EF3}"/>
              </a:ext>
            </a:extLst>
          </p:cNvPr>
          <p:cNvSpPr>
            <a:spLocks noGrp="1"/>
          </p:cNvSpPr>
          <p:nvPr/>
        </p:nvSpPr>
        <p:spPr>
          <a:xfrm>
            <a:off x="8382000" y="12573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Pregunta guía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114370D-3592-4704-8B31-6797C0530679}"/>
              </a:ext>
            </a:extLst>
          </p:cNvPr>
          <p:cNvSpPr>
            <a:spLocks noGrp="1"/>
          </p:cNvSpPr>
          <p:nvPr/>
        </p:nvSpPr>
        <p:spPr>
          <a:xfrm>
            <a:off x="8382000" y="1752600"/>
            <a:ext cx="2381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¿Permiten los datos multimodales anticipar el riesgo de cáncer con suficiente fiabilidad para apoyar un flujo de cribado?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DF7E340-DFB3-48A7-A488-25A0EDB9A8B4}"/>
              </a:ext>
            </a:extLst>
          </p:cNvPr>
          <p:cNvSpPr>
            <a:spLocks noGrp="1"/>
          </p:cNvSpPr>
          <p:nvPr/>
        </p:nvSpPr>
        <p:spPr>
          <a:xfrm>
            <a:off x="8382000" y="476250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Proyecto IA · comparativa ML vs MLP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F13215A-E0C1-42B3-A5C4-4AD4B5A71298}"/>
              </a:ext>
            </a:extLst>
          </p:cNvPr>
          <p:cNvSpPr>
            <a:spLocks noGrp="1"/>
          </p:cNvSpPr>
          <p:nvPr/>
        </p:nvSpPr>
        <p:spPr>
          <a:xfrm>
            <a:off x="8382000" y="5010150"/>
            <a:ext cx="238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seed 42 · umbrales seleccionados en validación</a:t>
            </a:r>
          </a:p>
        </p:txBody>
      </p:sp>
    </p:spTree>
    <p:extLst>
      <p:ext uri="{BB962C8B-B14F-4D97-AF65-F5344CB8AC3E}">
        <p14:creationId xmlns:p14="http://schemas.microsoft.com/office/powerpoint/2010/main" val="1893191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ángulo 111">
            <a:extLst>
              <a:ext uri="{FF2B5EF4-FFF2-40B4-BE49-F238E27FC236}">
                <a16:creationId xmlns:a16="http://schemas.microsoft.com/office/drawing/2014/main" id="{CD83D2F0-7A19-49AF-8144-E973C49134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B578A3B-EC22-439F-AEE5-AD9F8BB3F4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FD471D-1C09-4A90-9989-EB5D5ABBA50C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D20152-F345-42FB-BBFF-BE94382954D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OBJETIVO Y DATOS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AC78F2-FE34-4D6E-BD99-829F12CF62D4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9334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925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Un dataset sólido para una pregunta clínica exigente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173C80-ACC5-496F-A81B-D65F22D1351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Viabilidad de cribado: maximizar señal útil sin permitir fuga temporal.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6FD692-2C6A-4464-97FE-76A2BF6CBF38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552450" cy="190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E3BB14-C110-404A-AD9E-62190AEFC1BB}"/>
              </a:ext>
            </a:extLst>
          </p:cNvPr>
          <p:cNvSpPr>
            <a:spLocks noGrp="1"/>
          </p:cNvSpPr>
          <p:nvPr/>
        </p:nvSpPr>
        <p:spPr>
          <a:xfrm>
            <a:off x="11239500" y="12763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7A1F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7A1F2B"/>
                </a:solidFill>
                <a:latin typeface="Georgia"/>
                <a:ea typeface="Georgia"/>
                <a:cs typeface="Georgia"/>
              </a:rPr>
              <a:t>1/5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C2BEA78-3532-4078-A164-2366ED7FC7AB}"/>
              </a:ext>
            </a:extLst>
          </p:cNvPr>
          <p:cNvSpPr>
            <a:spLocks noGrp="1"/>
          </p:cNvSpPr>
          <p:nvPr/>
        </p:nvSpPr>
        <p:spPr>
          <a:xfrm>
            <a:off x="11049000" y="1543050"/>
            <a:ext cx="552450" cy="9525"/>
          </a:xfrm>
          <a:prstGeom prst="rect">
            <a:avLst/>
          </a:prstGeom>
          <a:solidFill>
            <a:srgbClr val="BDB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CCEF26-E893-4E13-8ED7-F694079A5793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495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Predicción de diagnóstico de cáncer · comparativa ML vs MLP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1997C81-5F57-4AFB-86FA-CD2A21316DD9}"/>
              </a:ext>
            </a:extLst>
          </p:cNvPr>
          <p:cNvSpPr>
            <a:spLocks noGrp="1"/>
          </p:cNvSpPr>
          <p:nvPr/>
        </p:nvSpPr>
        <p:spPr>
          <a:xfrm>
            <a:off x="8458200" y="6515100"/>
            <a:ext cx="3143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seed 42 · umbrales seleccionados en 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15552FD-3C03-4A01-806E-5A1DA15DE031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738313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6284E39-1299-40A4-810A-BDEB01D14602}"/>
              </a:ext>
            </a:extLst>
          </p:cNvPr>
          <p:cNvSpPr>
            <a:spLocks noGrp="1"/>
          </p:cNvSpPr>
          <p:nvPr/>
        </p:nvSpPr>
        <p:spPr>
          <a:xfrm>
            <a:off x="552450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2E9AAEA-411B-4308-AC24-DDB5A0C1B4BC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0F976E6-E1FF-4359-9AE0-897A3B6FDB50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PACIENTES UNIDOS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9BF172-C8F3-4CBC-AECD-A6DEA9527ED2}"/>
              </a:ext>
            </a:extLst>
          </p:cNvPr>
          <p:cNvSpPr>
            <a:spLocks noGrp="1"/>
          </p:cNvSpPr>
          <p:nvPr/>
        </p:nvSpPr>
        <p:spPr>
          <a:xfrm>
            <a:off x="2414588" y="1885950"/>
            <a:ext cx="1738313" cy="28575"/>
          </a:xfrm>
          <a:prstGeom prst="rect">
            <a:avLst/>
          </a:prstGeom>
          <a:solidFill>
            <a:srgbClr val="4C5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CED281B-CEF8-4C11-8E79-D945030390F9}"/>
              </a:ext>
            </a:extLst>
          </p:cNvPr>
          <p:cNvSpPr>
            <a:spLocks noGrp="1"/>
          </p:cNvSpPr>
          <p:nvPr/>
        </p:nvSpPr>
        <p:spPr>
          <a:xfrm>
            <a:off x="2414588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C0F1F57-EFA5-4CD3-AB4A-DC9FFA467919}"/>
              </a:ext>
            </a:extLst>
          </p:cNvPr>
          <p:cNvSpPr>
            <a:spLocks noGrp="1"/>
          </p:cNvSpPr>
          <p:nvPr/>
        </p:nvSpPr>
        <p:spPr>
          <a:xfrm>
            <a:off x="2490788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19,3%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6FF4F64-35B2-4040-9EEE-28064B5BC031}"/>
              </a:ext>
            </a:extLst>
          </p:cNvPr>
          <p:cNvSpPr>
            <a:spLocks noGrp="1"/>
          </p:cNvSpPr>
          <p:nvPr/>
        </p:nvSpPr>
        <p:spPr>
          <a:xfrm>
            <a:off x="2490788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PREVALENCIA CÁNCER=1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A664DE9-BC59-4563-9B9F-6E9160962B86}"/>
              </a:ext>
            </a:extLst>
          </p:cNvPr>
          <p:cNvSpPr>
            <a:spLocks noGrp="1"/>
          </p:cNvSpPr>
          <p:nvPr/>
        </p:nvSpPr>
        <p:spPr>
          <a:xfrm>
            <a:off x="4276725" y="1885950"/>
            <a:ext cx="1738313" cy="28575"/>
          </a:xfrm>
          <a:prstGeom prst="rect">
            <a:avLst/>
          </a:prstGeom>
          <a:solidFill>
            <a:srgbClr val="A66B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916AC45-C6F9-4B09-BB56-9BDCDBC04673}"/>
              </a:ext>
            </a:extLst>
          </p:cNvPr>
          <p:cNvSpPr>
            <a:spLocks noGrp="1"/>
          </p:cNvSpPr>
          <p:nvPr/>
        </p:nvSpPr>
        <p:spPr>
          <a:xfrm>
            <a:off x="4276725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C56D3F5-EA0B-4742-BD2D-ADF85CB78E56}"/>
              </a:ext>
            </a:extLst>
          </p:cNvPr>
          <p:cNvSpPr>
            <a:spLocks noGrp="1"/>
          </p:cNvSpPr>
          <p:nvPr/>
        </p:nvSpPr>
        <p:spPr>
          <a:xfrm>
            <a:off x="4352925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4,18:1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DDF213A-213B-4221-AEAF-2E8652AF627D}"/>
              </a:ext>
            </a:extLst>
          </p:cNvPr>
          <p:cNvSpPr>
            <a:spLocks noGrp="1"/>
          </p:cNvSpPr>
          <p:nvPr/>
        </p:nvSpPr>
        <p:spPr>
          <a:xfrm>
            <a:off x="4352925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DESBALANCE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2AED364-C767-4B55-8FF3-84AFC7CB57E2}"/>
              </a:ext>
            </a:extLst>
          </p:cNvPr>
          <p:cNvSpPr>
            <a:spLocks noGrp="1"/>
          </p:cNvSpPr>
          <p:nvPr/>
        </p:nvSpPr>
        <p:spPr>
          <a:xfrm>
            <a:off x="6138863" y="1885950"/>
            <a:ext cx="1738313" cy="28575"/>
          </a:xfrm>
          <a:prstGeom prst="rect">
            <a:avLst/>
          </a:prstGeom>
          <a:solidFill>
            <a:srgbClr val="2D46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B901209-8EB5-460D-87A8-304ED5B0B46F}"/>
              </a:ext>
            </a:extLst>
          </p:cNvPr>
          <p:cNvSpPr>
            <a:spLocks noGrp="1"/>
          </p:cNvSpPr>
          <p:nvPr/>
        </p:nvSpPr>
        <p:spPr>
          <a:xfrm>
            <a:off x="6138863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CD188F6-5F95-4EB9-A8D3-4BF109E25C91}"/>
              </a:ext>
            </a:extLst>
          </p:cNvPr>
          <p:cNvSpPr>
            <a:spLocks noGrp="1"/>
          </p:cNvSpPr>
          <p:nvPr/>
        </p:nvSpPr>
        <p:spPr>
          <a:xfrm>
            <a:off x="6215063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6/6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0B555C5-D5CB-4F34-8AC5-18A1401CBF13}"/>
              </a:ext>
            </a:extLst>
          </p:cNvPr>
          <p:cNvSpPr>
            <a:spLocks noGrp="1"/>
          </p:cNvSpPr>
          <p:nvPr/>
        </p:nvSpPr>
        <p:spPr>
          <a:xfrm>
            <a:off x="6215063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COLECCIONES CSV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AEB4763-B297-4659-827C-A28A1D0D27C4}"/>
              </a:ext>
            </a:extLst>
          </p:cNvPr>
          <p:cNvSpPr>
            <a:spLocks noGrp="1"/>
          </p:cNvSpPr>
          <p:nvPr/>
        </p:nvSpPr>
        <p:spPr>
          <a:xfrm>
            <a:off x="8001000" y="1885950"/>
            <a:ext cx="1738313" cy="28575"/>
          </a:xfrm>
          <a:prstGeom prst="rect">
            <a:avLst/>
          </a:prstGeom>
          <a:solidFill>
            <a:srgbClr val="596F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7EC946C-5CDC-41D9-B853-022FFE757B7B}"/>
              </a:ext>
            </a:extLst>
          </p:cNvPr>
          <p:cNvSpPr>
            <a:spLocks noGrp="1"/>
          </p:cNvSpPr>
          <p:nvPr/>
        </p:nvSpPr>
        <p:spPr>
          <a:xfrm>
            <a:off x="8001000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330318A-4E89-4B4E-B38F-72185C4FCFB0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D81E417-F30C-4B1E-92EB-E27CEFBED406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FEATURES INCLUIDAS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0A2D83F-25BD-4ED9-A424-0F68003765BB}"/>
              </a:ext>
            </a:extLst>
          </p:cNvPr>
          <p:cNvSpPr>
            <a:spLocks noGrp="1"/>
          </p:cNvSpPr>
          <p:nvPr/>
        </p:nvSpPr>
        <p:spPr>
          <a:xfrm>
            <a:off x="9863138" y="1885950"/>
            <a:ext cx="1738313" cy="28575"/>
          </a:xfrm>
          <a:prstGeom prst="rect">
            <a:avLst/>
          </a:prstGeom>
          <a:solidFill>
            <a:srgbClr val="8D2D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C3A5456-7D28-4B07-8D6D-57D42CB78104}"/>
              </a:ext>
            </a:extLst>
          </p:cNvPr>
          <p:cNvSpPr>
            <a:spLocks noGrp="1"/>
          </p:cNvSpPr>
          <p:nvPr/>
        </p:nvSpPr>
        <p:spPr>
          <a:xfrm>
            <a:off x="9863138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AECA7D3-9C44-4BA7-B126-4AC7AEC9BA7F}"/>
              </a:ext>
            </a:extLst>
          </p:cNvPr>
          <p:cNvSpPr>
            <a:spLocks noGrp="1"/>
          </p:cNvSpPr>
          <p:nvPr/>
        </p:nvSpPr>
        <p:spPr>
          <a:xfrm>
            <a:off x="9939338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6C92920-782E-4DF1-8CCE-C99D1897A4AE}"/>
              </a:ext>
            </a:extLst>
          </p:cNvPr>
          <p:cNvSpPr>
            <a:spLocks noGrp="1"/>
          </p:cNvSpPr>
          <p:nvPr/>
        </p:nvSpPr>
        <p:spPr>
          <a:xfrm>
            <a:off x="9939338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EXCLUIDAS POR FUGA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D275689-69F4-4CEF-8188-7BF4B346F663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6096000" cy="262890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3D65E5E-A052-4535-89D3-44CF78ACB28F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60960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F0446C3-D891-47DF-886C-0DF44149B8B0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Integración de fuentes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29BC0C3-C950-4FF5-8D90-1D13976D8E07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5695950" cy="190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FEFF033-3AB5-4BE4-ABCC-D6930F52AB6D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695950" cy="9525"/>
          </a:xfrm>
          <a:prstGeom prst="rect">
            <a:avLst/>
          </a:prstGeom>
          <a:solidFill>
            <a:srgbClr val="8077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BFB8ABF-F7A4-462F-A3B8-7ACE54F96FD5}"/>
              </a:ext>
            </a:extLst>
          </p:cNvPr>
          <p:cNvSpPr>
            <a:spLocks noGrp="1"/>
          </p:cNvSpPr>
          <p:nvPr/>
        </p:nvSpPr>
        <p:spPr>
          <a:xfrm>
            <a:off x="742950" y="3571875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Colección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E8E6C91-5B4F-4894-99EC-FBF088A5A7A7}"/>
              </a:ext>
            </a:extLst>
          </p:cNvPr>
          <p:cNvSpPr>
            <a:spLocks noGrp="1"/>
          </p:cNvSpPr>
          <p:nvPr/>
        </p:nvSpPr>
        <p:spPr>
          <a:xfrm>
            <a:off x="3028950" y="3571875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Filas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70298DD5-BD0A-4754-9898-2530B07B7086}"/>
              </a:ext>
            </a:extLst>
          </p:cNvPr>
          <p:cNvSpPr>
            <a:spLocks noGrp="1"/>
          </p:cNvSpPr>
          <p:nvPr/>
        </p:nvSpPr>
        <p:spPr>
          <a:xfrm>
            <a:off x="3886200" y="3571875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Cols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0FCC13BB-62E3-4105-8175-611949DF1D8B}"/>
              </a:ext>
            </a:extLst>
          </p:cNvPr>
          <p:cNvSpPr>
            <a:spLocks noGrp="1"/>
          </p:cNvSpPr>
          <p:nvPr/>
        </p:nvSpPr>
        <p:spPr>
          <a:xfrm>
            <a:off x="4648200" y="3571875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Estado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25C8532D-AF0D-4AD7-907D-1105E2BCFE30}"/>
              </a:ext>
            </a:extLst>
          </p:cNvPr>
          <p:cNvSpPr>
            <a:spLocks noGrp="1"/>
          </p:cNvSpPr>
          <p:nvPr/>
        </p:nvSpPr>
        <p:spPr>
          <a:xfrm>
            <a:off x="5505450" y="3571875"/>
            <a:ext cx="876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IDs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3F55335-049A-43B7-8AD2-9B3EBA1AE145}"/>
              </a:ext>
            </a:extLst>
          </p:cNvPr>
          <p:cNvSpPr>
            <a:spLocks noGrp="1"/>
          </p:cNvSpPr>
          <p:nvPr/>
        </p:nvSpPr>
        <p:spPr>
          <a:xfrm>
            <a:off x="742950" y="3990975"/>
            <a:ext cx="56959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08968F1-84E4-49ED-9C81-222F3AC8EBA2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2095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01_BIOQUÍMICOS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ABD969E-52B6-4C9C-A395-86350084B57F}"/>
              </a:ext>
            </a:extLst>
          </p:cNvPr>
          <p:cNvSpPr>
            <a:spLocks noGrp="1"/>
          </p:cNvSpPr>
          <p:nvPr/>
        </p:nvSpPr>
        <p:spPr>
          <a:xfrm>
            <a:off x="3028950" y="382905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64C65F3-41C7-43DF-BEAF-15D26316533E}"/>
              </a:ext>
            </a:extLst>
          </p:cNvPr>
          <p:cNvSpPr>
            <a:spLocks noGrp="1"/>
          </p:cNvSpPr>
          <p:nvPr/>
        </p:nvSpPr>
        <p:spPr>
          <a:xfrm>
            <a:off x="3886200" y="3829050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E9FAA0A-73F1-4AE3-8C41-7CE174F5F06D}"/>
              </a:ext>
            </a:extLst>
          </p:cNvPr>
          <p:cNvSpPr>
            <a:spLocks noGrp="1"/>
          </p:cNvSpPr>
          <p:nvPr/>
        </p:nvSpPr>
        <p:spPr>
          <a:xfrm>
            <a:off x="4648200" y="3829050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OK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A56AF004-781F-41D9-B889-12F57BE5EE42}"/>
              </a:ext>
            </a:extLst>
          </p:cNvPr>
          <p:cNvSpPr>
            <a:spLocks noGrp="1"/>
          </p:cNvSpPr>
          <p:nvPr/>
        </p:nvSpPr>
        <p:spPr>
          <a:xfrm>
            <a:off x="5505450" y="3829050"/>
            <a:ext cx="876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sin duplicados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71A2EBD8-D716-43C8-A680-4265010897D4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56959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6894DE9-6E38-4C35-9CC3-276E41ACB0B8}"/>
              </a:ext>
            </a:extLst>
          </p:cNvPr>
          <p:cNvSpPr>
            <a:spLocks noGrp="1"/>
          </p:cNvSpPr>
          <p:nvPr/>
        </p:nvSpPr>
        <p:spPr>
          <a:xfrm>
            <a:off x="742950" y="4067175"/>
            <a:ext cx="2095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02_CLÍNICOS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A403AB0-1F04-481D-BB95-526B812DC357}"/>
              </a:ext>
            </a:extLst>
          </p:cNvPr>
          <p:cNvSpPr>
            <a:spLocks noGrp="1"/>
          </p:cNvSpPr>
          <p:nvPr/>
        </p:nvSpPr>
        <p:spPr>
          <a:xfrm>
            <a:off x="3028950" y="4067175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4F9C5817-95C1-4D13-96D3-DA9CDF6E9D7F}"/>
              </a:ext>
            </a:extLst>
          </p:cNvPr>
          <p:cNvSpPr>
            <a:spLocks noGrp="1"/>
          </p:cNvSpPr>
          <p:nvPr/>
        </p:nvSpPr>
        <p:spPr>
          <a:xfrm>
            <a:off x="3886200" y="4067175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1ACEA306-3F66-41C4-AB99-8AA83193DA43}"/>
              </a:ext>
            </a:extLst>
          </p:cNvPr>
          <p:cNvSpPr>
            <a:spLocks noGrp="1"/>
          </p:cNvSpPr>
          <p:nvPr/>
        </p:nvSpPr>
        <p:spPr>
          <a:xfrm>
            <a:off x="4648200" y="4067175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OK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1880342-F060-44D6-B565-387C3A74B36B}"/>
              </a:ext>
            </a:extLst>
          </p:cNvPr>
          <p:cNvSpPr>
            <a:spLocks noGrp="1"/>
          </p:cNvSpPr>
          <p:nvPr/>
        </p:nvSpPr>
        <p:spPr>
          <a:xfrm>
            <a:off x="5505450" y="4067175"/>
            <a:ext cx="876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sin duplicados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654E330-AFF4-4520-922F-6A2B968670CD}"/>
              </a:ext>
            </a:extLst>
          </p:cNvPr>
          <p:cNvSpPr>
            <a:spLocks noGrp="1"/>
          </p:cNvSpPr>
          <p:nvPr/>
        </p:nvSpPr>
        <p:spPr>
          <a:xfrm>
            <a:off x="742950" y="4467225"/>
            <a:ext cx="56959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74F9B3C0-0754-4FE0-9158-B0F0DA78890A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095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03_GENÉTICOS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4FFD7953-E9B2-4274-9355-B6DF6608EF22}"/>
              </a:ext>
            </a:extLst>
          </p:cNvPr>
          <p:cNvSpPr>
            <a:spLocks noGrp="1"/>
          </p:cNvSpPr>
          <p:nvPr/>
        </p:nvSpPr>
        <p:spPr>
          <a:xfrm>
            <a:off x="3028950" y="430530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5AE86B08-2607-494C-A08D-6FA20FA4612E}"/>
              </a:ext>
            </a:extLst>
          </p:cNvPr>
          <p:cNvSpPr>
            <a:spLocks noGrp="1"/>
          </p:cNvSpPr>
          <p:nvPr/>
        </p:nvSpPr>
        <p:spPr>
          <a:xfrm>
            <a:off x="3886200" y="4305300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119CDBA5-0C85-49BC-9249-D30C2A97FC1B}"/>
              </a:ext>
            </a:extLst>
          </p:cNvPr>
          <p:cNvSpPr>
            <a:spLocks noGrp="1"/>
          </p:cNvSpPr>
          <p:nvPr/>
        </p:nvSpPr>
        <p:spPr>
          <a:xfrm>
            <a:off x="4648200" y="4305300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OK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D522E96-F66F-43C5-9805-F94CF6981F08}"/>
              </a:ext>
            </a:extLst>
          </p:cNvPr>
          <p:cNvSpPr>
            <a:spLocks noGrp="1"/>
          </p:cNvSpPr>
          <p:nvPr/>
        </p:nvSpPr>
        <p:spPr>
          <a:xfrm>
            <a:off x="5505450" y="4305300"/>
            <a:ext cx="876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sin duplicados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25C024BF-B57D-4ED1-8D69-B16B18141AC3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56959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217C3610-0989-45D4-A76C-A61BB4D35618}"/>
              </a:ext>
            </a:extLst>
          </p:cNvPr>
          <p:cNvSpPr>
            <a:spLocks noGrp="1"/>
          </p:cNvSpPr>
          <p:nvPr/>
        </p:nvSpPr>
        <p:spPr>
          <a:xfrm>
            <a:off x="742950" y="4543425"/>
            <a:ext cx="2095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04_ECONÓMICOS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AA451042-FD30-4CCF-BB8B-A96E9F4B33CF}"/>
              </a:ext>
            </a:extLst>
          </p:cNvPr>
          <p:cNvSpPr>
            <a:spLocks noGrp="1"/>
          </p:cNvSpPr>
          <p:nvPr/>
        </p:nvSpPr>
        <p:spPr>
          <a:xfrm>
            <a:off x="3028950" y="4543425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11DAB04B-7EC4-40C6-BBCC-2AD856D28D29}"/>
              </a:ext>
            </a:extLst>
          </p:cNvPr>
          <p:cNvSpPr>
            <a:spLocks noGrp="1"/>
          </p:cNvSpPr>
          <p:nvPr/>
        </p:nvSpPr>
        <p:spPr>
          <a:xfrm>
            <a:off x="3886200" y="4543425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A60E1237-FEA2-4EE1-9781-5C988A0FCF6D}"/>
              </a:ext>
            </a:extLst>
          </p:cNvPr>
          <p:cNvSpPr>
            <a:spLocks noGrp="1"/>
          </p:cNvSpPr>
          <p:nvPr/>
        </p:nvSpPr>
        <p:spPr>
          <a:xfrm>
            <a:off x="4648200" y="4543425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OK</a:t>
            </a:r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56EBB63E-FA28-4D3B-8F74-1FFB978FEF9D}"/>
              </a:ext>
            </a:extLst>
          </p:cNvPr>
          <p:cNvSpPr>
            <a:spLocks noGrp="1"/>
          </p:cNvSpPr>
          <p:nvPr/>
        </p:nvSpPr>
        <p:spPr>
          <a:xfrm>
            <a:off x="5505450" y="4543425"/>
            <a:ext cx="876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sin duplicados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F51A8AEE-8E36-4B37-91A1-B41952CD7C64}"/>
              </a:ext>
            </a:extLst>
          </p:cNvPr>
          <p:cNvSpPr>
            <a:spLocks noGrp="1"/>
          </p:cNvSpPr>
          <p:nvPr/>
        </p:nvSpPr>
        <p:spPr>
          <a:xfrm>
            <a:off x="742950" y="4943475"/>
            <a:ext cx="56959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9F7AF045-58A2-4B4C-8238-2B7F85F0E787}"/>
              </a:ext>
            </a:extLst>
          </p:cNvPr>
          <p:cNvSpPr>
            <a:spLocks noGrp="1"/>
          </p:cNvSpPr>
          <p:nvPr/>
        </p:nvSpPr>
        <p:spPr>
          <a:xfrm>
            <a:off x="742950" y="4781550"/>
            <a:ext cx="2095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05_GENERALES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086AF42D-18E0-4BDE-B437-56205C1CDB65}"/>
              </a:ext>
            </a:extLst>
          </p:cNvPr>
          <p:cNvSpPr>
            <a:spLocks noGrp="1"/>
          </p:cNvSpPr>
          <p:nvPr/>
        </p:nvSpPr>
        <p:spPr>
          <a:xfrm>
            <a:off x="3028950" y="4781550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99D80FC-8300-4189-B35F-4259C6B44506}"/>
              </a:ext>
            </a:extLst>
          </p:cNvPr>
          <p:cNvSpPr>
            <a:spLocks noGrp="1"/>
          </p:cNvSpPr>
          <p:nvPr/>
        </p:nvSpPr>
        <p:spPr>
          <a:xfrm>
            <a:off x="3886200" y="4781550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F060F8E-3CDC-4806-B170-A169C4F11B2C}"/>
              </a:ext>
            </a:extLst>
          </p:cNvPr>
          <p:cNvSpPr>
            <a:spLocks noGrp="1"/>
          </p:cNvSpPr>
          <p:nvPr/>
        </p:nvSpPr>
        <p:spPr>
          <a:xfrm>
            <a:off x="4648200" y="4781550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OK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090108D5-C799-4FD9-A0B3-BFB9AB3DE285}"/>
              </a:ext>
            </a:extLst>
          </p:cNvPr>
          <p:cNvSpPr>
            <a:spLocks noGrp="1"/>
          </p:cNvSpPr>
          <p:nvPr/>
        </p:nvSpPr>
        <p:spPr>
          <a:xfrm>
            <a:off x="5505450" y="4781550"/>
            <a:ext cx="876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sin duplicados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22330698-89AB-4ED6-B442-0CD2B9E20EE8}"/>
              </a:ext>
            </a:extLst>
          </p:cNvPr>
          <p:cNvSpPr>
            <a:spLocks noGrp="1"/>
          </p:cNvSpPr>
          <p:nvPr/>
        </p:nvSpPr>
        <p:spPr>
          <a:xfrm>
            <a:off x="742950" y="5181600"/>
            <a:ext cx="56959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982CDD0-B9B3-448F-AB4B-F57174C19497}"/>
              </a:ext>
            </a:extLst>
          </p:cNvPr>
          <p:cNvSpPr>
            <a:spLocks noGrp="1"/>
          </p:cNvSpPr>
          <p:nvPr/>
        </p:nvSpPr>
        <p:spPr>
          <a:xfrm>
            <a:off x="742950" y="5019675"/>
            <a:ext cx="2095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06_SOCIODEMOGRÁFICOS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1BC535C2-F13F-4631-9789-DD3912A5033F}"/>
              </a:ext>
            </a:extLst>
          </p:cNvPr>
          <p:cNvSpPr>
            <a:spLocks noGrp="1"/>
          </p:cNvSpPr>
          <p:nvPr/>
        </p:nvSpPr>
        <p:spPr>
          <a:xfrm>
            <a:off x="3028950" y="5019675"/>
            <a:ext cx="571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50.001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EB5FED0A-CB80-4443-93FA-4ED00295D34B}"/>
              </a:ext>
            </a:extLst>
          </p:cNvPr>
          <p:cNvSpPr>
            <a:spLocks noGrp="1"/>
          </p:cNvSpPr>
          <p:nvPr/>
        </p:nvSpPr>
        <p:spPr>
          <a:xfrm>
            <a:off x="3886200" y="5019675"/>
            <a:ext cx="381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8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8E01E72B-BEA5-4589-B2EC-286256BE5DC8}"/>
              </a:ext>
            </a:extLst>
          </p:cNvPr>
          <p:cNvSpPr>
            <a:spLocks noGrp="1"/>
          </p:cNvSpPr>
          <p:nvPr/>
        </p:nvSpPr>
        <p:spPr>
          <a:xfrm>
            <a:off x="4648200" y="5019675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OK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9AAF38B8-F7A5-4A81-A610-C1B7F2DBDBAF}"/>
              </a:ext>
            </a:extLst>
          </p:cNvPr>
          <p:cNvSpPr>
            <a:spLocks noGrp="1"/>
          </p:cNvSpPr>
          <p:nvPr/>
        </p:nvSpPr>
        <p:spPr>
          <a:xfrm>
            <a:off x="5505450" y="5019675"/>
            <a:ext cx="876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sin duplicados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7C97B8E2-C964-4CFF-99A5-74464D8012E4}"/>
              </a:ext>
            </a:extLst>
          </p:cNvPr>
          <p:cNvSpPr>
            <a:spLocks noGrp="1"/>
          </p:cNvSpPr>
          <p:nvPr/>
        </p:nvSpPr>
        <p:spPr>
          <a:xfrm>
            <a:off x="6896100" y="2895600"/>
            <a:ext cx="4705350" cy="704850"/>
          </a:xfrm>
          <a:prstGeom prst="rect">
            <a:avLst/>
          </a:prstGeom>
          <a:solidFill>
            <a:srgbClr val="E8D9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FAB2A1EA-89AF-47D2-B4E7-F1A10E776E36}"/>
              </a:ext>
            </a:extLst>
          </p:cNvPr>
          <p:cNvSpPr>
            <a:spLocks noGrp="1"/>
          </p:cNvSpPr>
          <p:nvPr/>
        </p:nvSpPr>
        <p:spPr>
          <a:xfrm>
            <a:off x="6896100" y="2895600"/>
            <a:ext cx="38100" cy="7048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7541F6F6-97F1-4872-8031-A7C2825A5C20}"/>
              </a:ext>
            </a:extLst>
          </p:cNvPr>
          <p:cNvSpPr>
            <a:spLocks noGrp="1"/>
          </p:cNvSpPr>
          <p:nvPr/>
        </p:nvSpPr>
        <p:spPr>
          <a:xfrm>
            <a:off x="7067550" y="3028950"/>
            <a:ext cx="4381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B192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4B1921"/>
                </a:solidFill>
                <a:latin typeface="Avenir Next"/>
                <a:ea typeface="Avenir Next"/>
                <a:cs typeface="Avenir Next"/>
              </a:rPr>
              <a:t>Objetivo: anticipar cáncer=1 con datos multimodales y convertir el ranking de modelos en una estrategia de cribado.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73DE67F6-C309-42C6-A716-89D0957994EE}"/>
              </a:ext>
            </a:extLst>
          </p:cNvPr>
          <p:cNvSpPr>
            <a:spLocks noGrp="1"/>
          </p:cNvSpPr>
          <p:nvPr/>
        </p:nvSpPr>
        <p:spPr>
          <a:xfrm>
            <a:off x="6896100" y="3810000"/>
            <a:ext cx="4705350" cy="12001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43E50FD6-9673-416F-B907-39149177711B}"/>
              </a:ext>
            </a:extLst>
          </p:cNvPr>
          <p:cNvSpPr>
            <a:spLocks noGrp="1"/>
          </p:cNvSpPr>
          <p:nvPr/>
        </p:nvSpPr>
        <p:spPr>
          <a:xfrm>
            <a:off x="6896100" y="3810000"/>
            <a:ext cx="47053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0882E1AA-0AD7-4222-8289-4577C8AD27B4}"/>
              </a:ext>
            </a:extLst>
          </p:cNvPr>
          <p:cNvSpPr>
            <a:spLocks noGrp="1"/>
          </p:cNvSpPr>
          <p:nvPr/>
        </p:nvSpPr>
        <p:spPr>
          <a:xfrm>
            <a:off x="7086600" y="3981450"/>
            <a:ext cx="228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POLÍTICA DE FEATURES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706CC9D0-6928-4D92-9899-6E42640FCEF6}"/>
              </a:ext>
            </a:extLst>
          </p:cNvPr>
          <p:cNvSpPr>
            <a:spLocks noGrp="1"/>
          </p:cNvSpPr>
          <p:nvPr/>
        </p:nvSpPr>
        <p:spPr>
          <a:xfrm>
            <a:off x="7086600" y="4267200"/>
            <a:ext cx="4286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Incluidas: biomarcadores, comorbilidades, mutaciones, edad, distancia hospitalaria y variables sociodemográficas seguras.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ADA505B6-FEB8-474B-AE61-C8A897362D86}"/>
              </a:ext>
            </a:extLst>
          </p:cNvPr>
          <p:cNvSpPr>
            <a:spLocks noGrp="1"/>
          </p:cNvSpPr>
          <p:nvPr/>
        </p:nvSpPr>
        <p:spPr>
          <a:xfrm>
            <a:off x="7086600" y="4648200"/>
            <a:ext cx="428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81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Excluidas: identificador, target, constantes y señales post-diagnóstico como costes, ingresos o días de hospital.</a:t>
            </a: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EF740FC6-E05F-4718-B424-D7B2FF06812B}"/>
              </a:ext>
            </a:extLst>
          </p:cNvPr>
          <p:cNvSpPr>
            <a:spLocks noGrp="1"/>
          </p:cNvSpPr>
          <p:nvPr/>
        </p:nvSpPr>
        <p:spPr>
          <a:xfrm>
            <a:off x="6896100" y="5219700"/>
            <a:ext cx="4705350" cy="68580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A4EC24E9-6208-4865-8203-DC7702916193}"/>
              </a:ext>
            </a:extLst>
          </p:cNvPr>
          <p:cNvSpPr>
            <a:spLocks noGrp="1"/>
          </p:cNvSpPr>
          <p:nvPr/>
        </p:nvSpPr>
        <p:spPr>
          <a:xfrm>
            <a:off x="6896100" y="5219700"/>
            <a:ext cx="4705350" cy="28575"/>
          </a:xfrm>
          <a:prstGeom prst="rect">
            <a:avLst/>
          </a:prstGeom>
          <a:solidFill>
            <a:srgbClr val="A66B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35BDFB3E-F0C5-4FCB-86F9-8DC26F69D565}"/>
              </a:ext>
            </a:extLst>
          </p:cNvPr>
          <p:cNvSpPr>
            <a:spLocks noGrp="1"/>
          </p:cNvSpPr>
          <p:nvPr/>
        </p:nvSpPr>
        <p:spPr>
          <a:xfrm>
            <a:off x="7086600" y="54102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6DC4994B-40B8-429D-94C5-89B735B7797A}"/>
              </a:ext>
            </a:extLst>
          </p:cNvPr>
          <p:cNvSpPr>
            <a:spLocks noGrp="1"/>
          </p:cNvSpPr>
          <p:nvPr/>
        </p:nvSpPr>
        <p:spPr>
          <a:xfrm>
            <a:off x="7277100" y="5419725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Split reproducible con seed 42.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C4E8311A-956F-414A-B93F-4BC069ACD1C7}"/>
              </a:ext>
            </a:extLst>
          </p:cNvPr>
          <p:cNvSpPr>
            <a:spLocks noGrp="1"/>
          </p:cNvSpPr>
          <p:nvPr/>
        </p:nvSpPr>
        <p:spPr>
          <a:xfrm>
            <a:off x="7086600" y="56388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D3A9F144-3061-47E0-98D4-3912E65ECCEE}"/>
              </a:ext>
            </a:extLst>
          </p:cNvPr>
          <p:cNvSpPr>
            <a:spLocks noGrp="1"/>
          </p:cNvSpPr>
          <p:nvPr/>
        </p:nvSpPr>
        <p:spPr>
          <a:xfrm>
            <a:off x="7277100" y="5648325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Umbrales seleccionados en validación antes de tocar test.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B02589A3-5B9A-4372-AD30-C72D02DF6A4D}"/>
              </a:ext>
            </a:extLst>
          </p:cNvPr>
          <p:cNvSpPr>
            <a:spLocks noGrp="1"/>
          </p:cNvSpPr>
          <p:nvPr/>
        </p:nvSpPr>
        <p:spPr>
          <a:xfrm>
            <a:off x="742950" y="5695950"/>
            <a:ext cx="10668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FEB436D7-1023-4C5D-9E85-02D0A73D9092}"/>
              </a:ext>
            </a:extLst>
          </p:cNvPr>
          <p:cNvSpPr>
            <a:spLocks noGrp="1"/>
          </p:cNvSpPr>
          <p:nvPr/>
        </p:nvSpPr>
        <p:spPr>
          <a:xfrm>
            <a:off x="742950" y="5724525"/>
            <a:ext cx="106680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7A595884-626F-4193-B6A9-B8253EA16838}"/>
              </a:ext>
            </a:extLst>
          </p:cNvPr>
          <p:cNvSpPr>
            <a:spLocks noGrp="1"/>
          </p:cNvSpPr>
          <p:nvPr/>
        </p:nvSpPr>
        <p:spPr>
          <a:xfrm>
            <a:off x="819150" y="5848350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40.000</a:t>
            </a: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0317B735-44F1-495C-918F-DC608FD88690}"/>
              </a:ext>
            </a:extLst>
          </p:cNvPr>
          <p:cNvSpPr>
            <a:spLocks noGrp="1"/>
          </p:cNvSpPr>
          <p:nvPr/>
        </p:nvSpPr>
        <p:spPr>
          <a:xfrm>
            <a:off x="819150" y="61722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TRAIN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BAAA6371-5F79-46E5-9E04-49D45BC817D4}"/>
              </a:ext>
            </a:extLst>
          </p:cNvPr>
          <p:cNvSpPr>
            <a:spLocks noGrp="1"/>
          </p:cNvSpPr>
          <p:nvPr/>
        </p:nvSpPr>
        <p:spPr>
          <a:xfrm>
            <a:off x="2000250" y="5695950"/>
            <a:ext cx="10668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4224F521-9FE7-4873-98F2-67D977AF2B6F}"/>
              </a:ext>
            </a:extLst>
          </p:cNvPr>
          <p:cNvSpPr>
            <a:spLocks noGrp="1"/>
          </p:cNvSpPr>
          <p:nvPr/>
        </p:nvSpPr>
        <p:spPr>
          <a:xfrm>
            <a:off x="2000250" y="5724525"/>
            <a:ext cx="106680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9397A8DD-4E50-4E0D-9DE4-8A9F671CFF73}"/>
              </a:ext>
            </a:extLst>
          </p:cNvPr>
          <p:cNvSpPr>
            <a:spLocks noGrp="1"/>
          </p:cNvSpPr>
          <p:nvPr/>
        </p:nvSpPr>
        <p:spPr>
          <a:xfrm>
            <a:off x="2076450" y="5848350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10.001</a:t>
            </a:r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EAE324C7-F285-4095-93A8-3FD3C7427C20}"/>
              </a:ext>
            </a:extLst>
          </p:cNvPr>
          <p:cNvSpPr>
            <a:spLocks noGrp="1"/>
          </p:cNvSpPr>
          <p:nvPr/>
        </p:nvSpPr>
        <p:spPr>
          <a:xfrm>
            <a:off x="2076450" y="61722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TEST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CCF45CCD-4857-4A46-ADA5-CE5DE3B46900}"/>
              </a:ext>
            </a:extLst>
          </p:cNvPr>
          <p:cNvSpPr>
            <a:spLocks noGrp="1"/>
          </p:cNvSpPr>
          <p:nvPr/>
        </p:nvSpPr>
        <p:spPr>
          <a:xfrm>
            <a:off x="3257550" y="5695950"/>
            <a:ext cx="10668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84F171C3-6529-4138-8283-244C44C77C54}"/>
              </a:ext>
            </a:extLst>
          </p:cNvPr>
          <p:cNvSpPr>
            <a:spLocks noGrp="1"/>
          </p:cNvSpPr>
          <p:nvPr/>
        </p:nvSpPr>
        <p:spPr>
          <a:xfrm>
            <a:off x="3257550" y="5724525"/>
            <a:ext cx="106680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99EE2C15-7365-4C3E-9FC4-8F7ECAB3A1CF}"/>
              </a:ext>
            </a:extLst>
          </p:cNvPr>
          <p:cNvSpPr>
            <a:spLocks noGrp="1"/>
          </p:cNvSpPr>
          <p:nvPr/>
        </p:nvSpPr>
        <p:spPr>
          <a:xfrm>
            <a:off x="3333750" y="5848350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7.715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1BCE57AA-636A-465F-9387-E4D25CC50219}"/>
              </a:ext>
            </a:extLst>
          </p:cNvPr>
          <p:cNvSpPr>
            <a:spLocks noGrp="1"/>
          </p:cNvSpPr>
          <p:nvPr/>
        </p:nvSpPr>
        <p:spPr>
          <a:xfrm>
            <a:off x="3333750" y="61722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POSITIVOS TRAIN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C48587B9-8154-4417-A97B-DE8C7E361680}"/>
              </a:ext>
            </a:extLst>
          </p:cNvPr>
          <p:cNvSpPr>
            <a:spLocks noGrp="1"/>
          </p:cNvSpPr>
          <p:nvPr/>
        </p:nvSpPr>
        <p:spPr>
          <a:xfrm>
            <a:off x="4514850" y="5695950"/>
            <a:ext cx="10668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Rectángulo 108">
            <a:extLst>
              <a:ext uri="{FF2B5EF4-FFF2-40B4-BE49-F238E27FC236}">
                <a16:creationId xmlns:a16="http://schemas.microsoft.com/office/drawing/2014/main" id="{A052B147-FDDC-4D0F-9509-D2695D408751}"/>
              </a:ext>
            </a:extLst>
          </p:cNvPr>
          <p:cNvSpPr>
            <a:spLocks noGrp="1"/>
          </p:cNvSpPr>
          <p:nvPr/>
        </p:nvSpPr>
        <p:spPr>
          <a:xfrm>
            <a:off x="4514850" y="5724525"/>
            <a:ext cx="106680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0E9B8F56-CEEC-419F-BEE5-AC4CDB7C0E6D}"/>
              </a:ext>
            </a:extLst>
          </p:cNvPr>
          <p:cNvSpPr>
            <a:spLocks noGrp="1"/>
          </p:cNvSpPr>
          <p:nvPr/>
        </p:nvSpPr>
        <p:spPr>
          <a:xfrm>
            <a:off x="4591050" y="5848350"/>
            <a:ext cx="914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1.929</a:t>
            </a:r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4FE796CD-F44D-4CFF-85C8-9DD7A5F64EA5}"/>
              </a:ext>
            </a:extLst>
          </p:cNvPr>
          <p:cNvSpPr>
            <a:spLocks noGrp="1"/>
          </p:cNvSpPr>
          <p:nvPr/>
        </p:nvSpPr>
        <p:spPr>
          <a:xfrm>
            <a:off x="4591050" y="6172200"/>
            <a:ext cx="914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POSITIVOS TEST</a:t>
            </a:r>
          </a:p>
        </p:txBody>
      </p:sp>
    </p:spTree>
    <p:extLst>
      <p:ext uri="{BB962C8B-B14F-4D97-AF65-F5344CB8AC3E}">
        <p14:creationId xmlns:p14="http://schemas.microsoft.com/office/powerpoint/2010/main" val="146453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ángulo 115">
            <a:extLst>
              <a:ext uri="{FF2B5EF4-FFF2-40B4-BE49-F238E27FC236}">
                <a16:creationId xmlns:a16="http://schemas.microsoft.com/office/drawing/2014/main" id="{083D8C1A-5374-498D-974D-D8BD8AA50A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BA8E27-8BDD-4A45-9141-4C67B7F6B8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5AE24BA-E4CA-49A1-82F1-D3A59D201387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925432-5985-4DE0-B40F-DDB01685149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MODELOS ML COMPLEJOS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4F5559-9264-41D9-8DFB-4AE3AE214599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9334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925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Boosting lidera con una ventaja estrecha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AF2767-E624-409B-8865-28C1518461F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El ganador técnico se decide por F1 de la clase positiva; la recomendación no se apoya en accuracy.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41E2DC6-4854-4348-835D-E97B34E5E705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552450" cy="190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157412F-4371-47C5-846A-4E2662538E2A}"/>
              </a:ext>
            </a:extLst>
          </p:cNvPr>
          <p:cNvSpPr>
            <a:spLocks noGrp="1"/>
          </p:cNvSpPr>
          <p:nvPr/>
        </p:nvSpPr>
        <p:spPr>
          <a:xfrm>
            <a:off x="11239500" y="12763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7A1F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7A1F2B"/>
                </a:solidFill>
                <a:latin typeface="Georgia"/>
                <a:ea typeface="Georgia"/>
                <a:cs typeface="Georgia"/>
              </a:rPr>
              <a:t>2/5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4D9FB5-E7CA-4D8F-B806-846FE5C980AD}"/>
              </a:ext>
            </a:extLst>
          </p:cNvPr>
          <p:cNvSpPr>
            <a:spLocks noGrp="1"/>
          </p:cNvSpPr>
          <p:nvPr/>
        </p:nvSpPr>
        <p:spPr>
          <a:xfrm>
            <a:off x="11049000" y="1543050"/>
            <a:ext cx="552450" cy="9525"/>
          </a:xfrm>
          <a:prstGeom prst="rect">
            <a:avLst/>
          </a:prstGeom>
          <a:solidFill>
            <a:srgbClr val="BDB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3BA649-FE7D-4002-829B-0636DC935C91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495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Predicción de diagnóstico de cáncer · comparativa ML vs MLP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9D1754-7246-4597-BBC6-2D7EF85DED77}"/>
              </a:ext>
            </a:extLst>
          </p:cNvPr>
          <p:cNvSpPr>
            <a:spLocks noGrp="1"/>
          </p:cNvSpPr>
          <p:nvPr/>
        </p:nvSpPr>
        <p:spPr>
          <a:xfrm>
            <a:off x="8458200" y="6515100"/>
            <a:ext cx="3143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seed 42 · umbrales seleccionados en 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D0DB47-EB54-439C-9CE2-F1781E50C211}"/>
              </a:ext>
            </a:extLst>
          </p:cNvPr>
          <p:cNvSpPr>
            <a:spLocks noGrp="1"/>
          </p:cNvSpPr>
          <p:nvPr/>
        </p:nvSpPr>
        <p:spPr>
          <a:xfrm>
            <a:off x="552450" y="1885950"/>
            <a:ext cx="1738313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3BC47F6-D03A-488F-B640-11B3B9EA4DBC}"/>
              </a:ext>
            </a:extLst>
          </p:cNvPr>
          <p:cNvSpPr>
            <a:spLocks noGrp="1"/>
          </p:cNvSpPr>
          <p:nvPr/>
        </p:nvSpPr>
        <p:spPr>
          <a:xfrm>
            <a:off x="552450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CBBE443-9011-4ECE-8DCF-7B85E1760C69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E0B72C9-7C67-455B-B262-840BC5EEAC53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MEJOR ML POR F1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BA5E745-C3AF-476D-8603-AFED8919435B}"/>
              </a:ext>
            </a:extLst>
          </p:cNvPr>
          <p:cNvSpPr>
            <a:spLocks noGrp="1"/>
          </p:cNvSpPr>
          <p:nvPr/>
        </p:nvSpPr>
        <p:spPr>
          <a:xfrm>
            <a:off x="2414588" y="1885950"/>
            <a:ext cx="1738313" cy="28575"/>
          </a:xfrm>
          <a:prstGeom prst="rect">
            <a:avLst/>
          </a:prstGeom>
          <a:solidFill>
            <a:srgbClr val="596F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BB07DED-E420-46F1-A047-2795740E2CD4}"/>
              </a:ext>
            </a:extLst>
          </p:cNvPr>
          <p:cNvSpPr>
            <a:spLocks noGrp="1"/>
          </p:cNvSpPr>
          <p:nvPr/>
        </p:nvSpPr>
        <p:spPr>
          <a:xfrm>
            <a:off x="2414588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1679FD5-7354-431C-A390-3C60F09C35FB}"/>
              </a:ext>
            </a:extLst>
          </p:cNvPr>
          <p:cNvSpPr>
            <a:spLocks noGrp="1"/>
          </p:cNvSpPr>
          <p:nvPr/>
        </p:nvSpPr>
        <p:spPr>
          <a:xfrm>
            <a:off x="2490788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28E07D2-4972-4118-8F44-AC56953589FF}"/>
              </a:ext>
            </a:extLst>
          </p:cNvPr>
          <p:cNvSpPr>
            <a:spLocks noGrp="1"/>
          </p:cNvSpPr>
          <p:nvPr/>
        </p:nvSpPr>
        <p:spPr>
          <a:xfrm>
            <a:off x="2490788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F1 CÁNCER=1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9EA2983-89FD-454C-AF8E-31930F6F9910}"/>
              </a:ext>
            </a:extLst>
          </p:cNvPr>
          <p:cNvSpPr>
            <a:spLocks noGrp="1"/>
          </p:cNvSpPr>
          <p:nvPr/>
        </p:nvSpPr>
        <p:spPr>
          <a:xfrm>
            <a:off x="4276725" y="1885950"/>
            <a:ext cx="1738313" cy="28575"/>
          </a:xfrm>
          <a:prstGeom prst="rect">
            <a:avLst/>
          </a:prstGeom>
          <a:solidFill>
            <a:srgbClr val="2D46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9EB7F45-ECEB-4B27-921C-F178A70AC249}"/>
              </a:ext>
            </a:extLst>
          </p:cNvPr>
          <p:cNvSpPr>
            <a:spLocks noGrp="1"/>
          </p:cNvSpPr>
          <p:nvPr/>
        </p:nvSpPr>
        <p:spPr>
          <a:xfrm>
            <a:off x="4276725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3F4CAFE-5F02-4E7A-8272-A54AC3569187}"/>
              </a:ext>
            </a:extLst>
          </p:cNvPr>
          <p:cNvSpPr>
            <a:spLocks noGrp="1"/>
          </p:cNvSpPr>
          <p:nvPr/>
        </p:nvSpPr>
        <p:spPr>
          <a:xfrm>
            <a:off x="4352925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0,578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77E8793-3CA6-4F6D-AAD7-83935F6BB941}"/>
              </a:ext>
            </a:extLst>
          </p:cNvPr>
          <p:cNvSpPr>
            <a:spLocks noGrp="1"/>
          </p:cNvSpPr>
          <p:nvPr/>
        </p:nvSpPr>
        <p:spPr>
          <a:xfrm>
            <a:off x="4352925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PRECISIÓN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FC8643C-3B47-407C-B434-92EAA08507ED}"/>
              </a:ext>
            </a:extLst>
          </p:cNvPr>
          <p:cNvSpPr>
            <a:spLocks noGrp="1"/>
          </p:cNvSpPr>
          <p:nvPr/>
        </p:nvSpPr>
        <p:spPr>
          <a:xfrm>
            <a:off x="6138863" y="1885950"/>
            <a:ext cx="1738313" cy="28575"/>
          </a:xfrm>
          <a:prstGeom prst="rect">
            <a:avLst/>
          </a:prstGeom>
          <a:solidFill>
            <a:srgbClr val="4C5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8A4538F-F914-44AF-A3CC-335AF0166364}"/>
              </a:ext>
            </a:extLst>
          </p:cNvPr>
          <p:cNvSpPr>
            <a:spLocks noGrp="1"/>
          </p:cNvSpPr>
          <p:nvPr/>
        </p:nvSpPr>
        <p:spPr>
          <a:xfrm>
            <a:off x="6138863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C271D45-6777-469D-8FCB-323A24027927}"/>
              </a:ext>
            </a:extLst>
          </p:cNvPr>
          <p:cNvSpPr>
            <a:spLocks noGrp="1"/>
          </p:cNvSpPr>
          <p:nvPr/>
        </p:nvSpPr>
        <p:spPr>
          <a:xfrm>
            <a:off x="6215063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0,591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6B07605-944A-4DC6-97C7-E3531DEACF75}"/>
              </a:ext>
            </a:extLst>
          </p:cNvPr>
          <p:cNvSpPr>
            <a:spLocks noGrp="1"/>
          </p:cNvSpPr>
          <p:nvPr/>
        </p:nvSpPr>
        <p:spPr>
          <a:xfrm>
            <a:off x="6215063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RECALL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67BE838-0AB9-4648-8736-57F5E94041C4}"/>
              </a:ext>
            </a:extLst>
          </p:cNvPr>
          <p:cNvSpPr>
            <a:spLocks noGrp="1"/>
          </p:cNvSpPr>
          <p:nvPr/>
        </p:nvSpPr>
        <p:spPr>
          <a:xfrm>
            <a:off x="8001000" y="1885950"/>
            <a:ext cx="1738313" cy="28575"/>
          </a:xfrm>
          <a:prstGeom prst="rect">
            <a:avLst/>
          </a:prstGeom>
          <a:solidFill>
            <a:srgbClr val="A66B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7600655-7A1F-4359-9946-C49FD0A72A00}"/>
              </a:ext>
            </a:extLst>
          </p:cNvPr>
          <p:cNvSpPr>
            <a:spLocks noGrp="1"/>
          </p:cNvSpPr>
          <p:nvPr/>
        </p:nvSpPr>
        <p:spPr>
          <a:xfrm>
            <a:off x="8001000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A025677-EDFB-4119-9354-0F339A16694D}"/>
              </a:ext>
            </a:extLst>
          </p:cNvPr>
          <p:cNvSpPr>
            <a:spLocks noGrp="1"/>
          </p:cNvSpPr>
          <p:nvPr/>
        </p:nvSpPr>
        <p:spPr>
          <a:xfrm>
            <a:off x="8077200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0,848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9E9BE2A-3C29-4A6A-989C-DC1F3012DDB6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AUC-ROC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D33B02F-F9B2-4E5F-90EB-1C4E7C73DF58}"/>
              </a:ext>
            </a:extLst>
          </p:cNvPr>
          <p:cNvSpPr>
            <a:spLocks noGrp="1"/>
          </p:cNvSpPr>
          <p:nvPr/>
        </p:nvSpPr>
        <p:spPr>
          <a:xfrm>
            <a:off x="9863138" y="1885950"/>
            <a:ext cx="1738313" cy="28575"/>
          </a:xfrm>
          <a:prstGeom prst="rect">
            <a:avLst/>
          </a:prstGeom>
          <a:solidFill>
            <a:srgbClr val="8D2D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6AC73E8-08F9-45B2-AF97-C5867961D744}"/>
              </a:ext>
            </a:extLst>
          </p:cNvPr>
          <p:cNvSpPr>
            <a:spLocks noGrp="1"/>
          </p:cNvSpPr>
          <p:nvPr/>
        </p:nvSpPr>
        <p:spPr>
          <a:xfrm>
            <a:off x="9863138" y="1914525"/>
            <a:ext cx="1738313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BC28DF5-AA87-47D6-B4FB-D7A5F39C89BC}"/>
              </a:ext>
            </a:extLst>
          </p:cNvPr>
          <p:cNvSpPr>
            <a:spLocks noGrp="1"/>
          </p:cNvSpPr>
          <p:nvPr/>
        </p:nvSpPr>
        <p:spPr>
          <a:xfrm>
            <a:off x="9939338" y="2038350"/>
            <a:ext cx="1585913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0,66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FA8A0B8-CCD8-40E6-9D16-3496FEADB744}"/>
              </a:ext>
            </a:extLst>
          </p:cNvPr>
          <p:cNvSpPr>
            <a:spLocks noGrp="1"/>
          </p:cNvSpPr>
          <p:nvPr/>
        </p:nvSpPr>
        <p:spPr>
          <a:xfrm>
            <a:off x="9939338" y="2362200"/>
            <a:ext cx="1585913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UMBRAL VALIDACIÓN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59A293A-4ADA-41E4-9DE4-E924FFE541F3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810250" cy="27241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8C149BD-5487-409D-9146-5BDC025C2815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8102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12A9A5A-FFD1-48D4-818B-3C7060F4BAD1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Ranking de modelos en test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BD78EEC-3BE1-40AA-9E51-5B790D23F6DA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5429250" cy="190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BD04F18F-FFEE-4E46-BDBF-B99A77119A87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5429250" cy="9525"/>
          </a:xfrm>
          <a:prstGeom prst="rect">
            <a:avLst/>
          </a:prstGeom>
          <a:solidFill>
            <a:srgbClr val="8077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31393868-3016-4A66-B241-53406D0A69BC}"/>
              </a:ext>
            </a:extLst>
          </p:cNvPr>
          <p:cNvSpPr>
            <a:spLocks noGrp="1"/>
          </p:cNvSpPr>
          <p:nvPr/>
        </p:nvSpPr>
        <p:spPr>
          <a:xfrm>
            <a:off x="742950" y="357187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Modelo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BD48EDE-3D60-45CB-8CB1-34222DDCA947}"/>
              </a:ext>
            </a:extLst>
          </p:cNvPr>
          <p:cNvSpPr>
            <a:spLocks noGrp="1"/>
          </p:cNvSpPr>
          <p:nvPr/>
        </p:nvSpPr>
        <p:spPr>
          <a:xfrm>
            <a:off x="2095500" y="3571875"/>
            <a:ext cx="523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Umbral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C7CFF6-B916-4423-9823-E15125F51543}"/>
              </a:ext>
            </a:extLst>
          </p:cNvPr>
          <p:cNvSpPr>
            <a:spLocks noGrp="1"/>
          </p:cNvSpPr>
          <p:nvPr/>
        </p:nvSpPr>
        <p:spPr>
          <a:xfrm>
            <a:off x="2933700" y="3571875"/>
            <a:ext cx="6191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Precisión</a:t>
            </a: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C270140-1191-43CE-8084-E303D96BB20D}"/>
              </a:ext>
            </a:extLst>
          </p:cNvPr>
          <p:cNvSpPr>
            <a:spLocks noGrp="1"/>
          </p:cNvSpPr>
          <p:nvPr/>
        </p:nvSpPr>
        <p:spPr>
          <a:xfrm>
            <a:off x="3886200" y="3571875"/>
            <a:ext cx="590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Recall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60CACB8-C2B7-4C4A-B095-51007D4449A2}"/>
              </a:ext>
            </a:extLst>
          </p:cNvPr>
          <p:cNvSpPr>
            <a:spLocks noGrp="1"/>
          </p:cNvSpPr>
          <p:nvPr/>
        </p:nvSpPr>
        <p:spPr>
          <a:xfrm>
            <a:off x="4743450" y="3571875"/>
            <a:ext cx="495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F1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B88EF1F-E43F-445E-BE0A-DDE3EB484138}"/>
              </a:ext>
            </a:extLst>
          </p:cNvPr>
          <p:cNvSpPr>
            <a:spLocks noGrp="1"/>
          </p:cNvSpPr>
          <p:nvPr/>
        </p:nvSpPr>
        <p:spPr>
          <a:xfrm>
            <a:off x="5505450" y="3571875"/>
            <a:ext cx="6191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AUC-ROC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A3E9A54-E8E5-4CF1-B509-34116F87058D}"/>
              </a:ext>
            </a:extLst>
          </p:cNvPr>
          <p:cNvSpPr>
            <a:spLocks noGrp="1"/>
          </p:cNvSpPr>
          <p:nvPr/>
        </p:nvSpPr>
        <p:spPr>
          <a:xfrm>
            <a:off x="742950" y="3990975"/>
            <a:ext cx="5429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D32C8E4F-4617-45E9-8870-5480BA9BD021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1143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ED115D3-0712-47F4-9FB4-5090745A6964}"/>
              </a:ext>
            </a:extLst>
          </p:cNvPr>
          <p:cNvSpPr>
            <a:spLocks noGrp="1"/>
          </p:cNvSpPr>
          <p:nvPr/>
        </p:nvSpPr>
        <p:spPr>
          <a:xfrm>
            <a:off x="2095500" y="3829050"/>
            <a:ext cx="523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0,66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B2AD57A-4D5C-43B9-B70F-439DD9B6FE9B}"/>
              </a:ext>
            </a:extLst>
          </p:cNvPr>
          <p:cNvSpPr>
            <a:spLocks noGrp="1"/>
          </p:cNvSpPr>
          <p:nvPr/>
        </p:nvSpPr>
        <p:spPr>
          <a:xfrm>
            <a:off x="2933700" y="3829050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0,578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CF5AEF0D-9FAF-4D21-956B-485102BA2D84}"/>
              </a:ext>
            </a:extLst>
          </p:cNvPr>
          <p:cNvSpPr>
            <a:spLocks noGrp="1"/>
          </p:cNvSpPr>
          <p:nvPr/>
        </p:nvSpPr>
        <p:spPr>
          <a:xfrm>
            <a:off x="3886200" y="382905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0,591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D7F5B8E1-3BD2-4AF2-B02E-AC70035A3A14}"/>
              </a:ext>
            </a:extLst>
          </p:cNvPr>
          <p:cNvSpPr>
            <a:spLocks noGrp="1"/>
          </p:cNvSpPr>
          <p:nvPr/>
        </p:nvSpPr>
        <p:spPr>
          <a:xfrm>
            <a:off x="4743450" y="382905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8C8CBAF-461F-4F14-86DD-DBFA45515F2C}"/>
              </a:ext>
            </a:extLst>
          </p:cNvPr>
          <p:cNvSpPr>
            <a:spLocks noGrp="1"/>
          </p:cNvSpPr>
          <p:nvPr/>
        </p:nvSpPr>
        <p:spPr>
          <a:xfrm>
            <a:off x="5505450" y="3829050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0,848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A6BA0BE9-899B-4BED-A0DF-8F3DFA93D4AA}"/>
              </a:ext>
            </a:extLst>
          </p:cNvPr>
          <p:cNvSpPr>
            <a:spLocks noGrp="1"/>
          </p:cNvSpPr>
          <p:nvPr/>
        </p:nvSpPr>
        <p:spPr>
          <a:xfrm>
            <a:off x="742950" y="4229100"/>
            <a:ext cx="5429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0A7643C0-4F39-4BB9-B0AE-28258BCD2397}"/>
              </a:ext>
            </a:extLst>
          </p:cNvPr>
          <p:cNvSpPr>
            <a:spLocks noGrp="1"/>
          </p:cNvSpPr>
          <p:nvPr/>
        </p:nvSpPr>
        <p:spPr>
          <a:xfrm>
            <a:off x="742950" y="4067175"/>
            <a:ext cx="1143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SoftVoting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69BC0075-6557-404C-B937-9EA9D71393D5}"/>
              </a:ext>
            </a:extLst>
          </p:cNvPr>
          <p:cNvSpPr>
            <a:spLocks noGrp="1"/>
          </p:cNvSpPr>
          <p:nvPr/>
        </p:nvSpPr>
        <p:spPr>
          <a:xfrm>
            <a:off x="2095500" y="4067175"/>
            <a:ext cx="523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0,52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BAFBB67-DBFE-4424-8668-8169AF73F0A1}"/>
              </a:ext>
            </a:extLst>
          </p:cNvPr>
          <p:cNvSpPr>
            <a:spLocks noGrp="1"/>
          </p:cNvSpPr>
          <p:nvPr/>
        </p:nvSpPr>
        <p:spPr>
          <a:xfrm>
            <a:off x="2933700" y="4067175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0,549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74A9104-1A1A-427E-B1C3-83633AF6E1E1}"/>
              </a:ext>
            </a:extLst>
          </p:cNvPr>
          <p:cNvSpPr>
            <a:spLocks noGrp="1"/>
          </p:cNvSpPr>
          <p:nvPr/>
        </p:nvSpPr>
        <p:spPr>
          <a:xfrm>
            <a:off x="3886200" y="4067175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0,625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EEB2257B-03AB-4986-8D46-6DA216C07E49}"/>
              </a:ext>
            </a:extLst>
          </p:cNvPr>
          <p:cNvSpPr>
            <a:spLocks noGrp="1"/>
          </p:cNvSpPr>
          <p:nvPr/>
        </p:nvSpPr>
        <p:spPr>
          <a:xfrm>
            <a:off x="4743450" y="4067175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93A5068A-F61A-4945-A49E-774F2A1F992C}"/>
              </a:ext>
            </a:extLst>
          </p:cNvPr>
          <p:cNvSpPr>
            <a:spLocks noGrp="1"/>
          </p:cNvSpPr>
          <p:nvPr/>
        </p:nvSpPr>
        <p:spPr>
          <a:xfrm>
            <a:off x="5505450" y="4067175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0,847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D25F28F-B067-42A9-9999-90D4F2F5D6C7}"/>
              </a:ext>
            </a:extLst>
          </p:cNvPr>
          <p:cNvSpPr>
            <a:spLocks noGrp="1"/>
          </p:cNvSpPr>
          <p:nvPr/>
        </p:nvSpPr>
        <p:spPr>
          <a:xfrm>
            <a:off x="742950" y="4467225"/>
            <a:ext cx="5429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1F0D237D-6FEE-443E-A50D-D52659E2FA23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1143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XGB F1Bal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31651513-B4F0-4038-9272-CDAF184528DB}"/>
              </a:ext>
            </a:extLst>
          </p:cNvPr>
          <p:cNvSpPr>
            <a:spLocks noGrp="1"/>
          </p:cNvSpPr>
          <p:nvPr/>
        </p:nvSpPr>
        <p:spPr>
          <a:xfrm>
            <a:off x="2095500" y="4305300"/>
            <a:ext cx="523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0,67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B37796E4-A732-4D64-AB28-5C55BF22625E}"/>
              </a:ext>
            </a:extLst>
          </p:cNvPr>
          <p:cNvSpPr>
            <a:spLocks noGrp="1"/>
          </p:cNvSpPr>
          <p:nvPr/>
        </p:nvSpPr>
        <p:spPr>
          <a:xfrm>
            <a:off x="2933700" y="4305300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0,578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D72BB19F-0EBC-4FF3-9B86-CA5411BE173E}"/>
              </a:ext>
            </a:extLst>
          </p:cNvPr>
          <p:cNvSpPr>
            <a:spLocks noGrp="1"/>
          </p:cNvSpPr>
          <p:nvPr/>
        </p:nvSpPr>
        <p:spPr>
          <a:xfrm>
            <a:off x="3886200" y="430530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0,586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AC431DFF-5A75-41A3-A161-E75FA7AEE1BC}"/>
              </a:ext>
            </a:extLst>
          </p:cNvPr>
          <p:cNvSpPr>
            <a:spLocks noGrp="1"/>
          </p:cNvSpPr>
          <p:nvPr/>
        </p:nvSpPr>
        <p:spPr>
          <a:xfrm>
            <a:off x="4743450" y="430530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0,582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EF8DAAD0-F25F-469F-9B85-4CE7A740AD2B}"/>
              </a:ext>
            </a:extLst>
          </p:cNvPr>
          <p:cNvSpPr>
            <a:spLocks noGrp="1"/>
          </p:cNvSpPr>
          <p:nvPr/>
        </p:nvSpPr>
        <p:spPr>
          <a:xfrm>
            <a:off x="5505450" y="4305300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0,848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450F364A-37F9-444E-9812-EF9E33493B10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5429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F3E0BE9E-523E-4A4D-8150-79F15068E8F4}"/>
              </a:ext>
            </a:extLst>
          </p:cNvPr>
          <p:cNvSpPr>
            <a:spLocks noGrp="1"/>
          </p:cNvSpPr>
          <p:nvPr/>
        </p:nvSpPr>
        <p:spPr>
          <a:xfrm>
            <a:off x="742950" y="4543425"/>
            <a:ext cx="1143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GradBoost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5E5CBAD0-2A57-4786-97F7-583806411D3D}"/>
              </a:ext>
            </a:extLst>
          </p:cNvPr>
          <p:cNvSpPr>
            <a:spLocks noGrp="1"/>
          </p:cNvSpPr>
          <p:nvPr/>
        </p:nvSpPr>
        <p:spPr>
          <a:xfrm>
            <a:off x="2095500" y="4543425"/>
            <a:ext cx="523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0,28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08B970C-5B28-444D-94AE-871C639C8F17}"/>
              </a:ext>
            </a:extLst>
          </p:cNvPr>
          <p:cNvSpPr>
            <a:spLocks noGrp="1"/>
          </p:cNvSpPr>
          <p:nvPr/>
        </p:nvSpPr>
        <p:spPr>
          <a:xfrm>
            <a:off x="2933700" y="4543425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0,539</a:t>
            </a: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D040B7AC-B40B-4C46-B909-E19AA98085DC}"/>
              </a:ext>
            </a:extLst>
          </p:cNvPr>
          <p:cNvSpPr>
            <a:spLocks noGrp="1"/>
          </p:cNvSpPr>
          <p:nvPr/>
        </p:nvSpPr>
        <p:spPr>
          <a:xfrm>
            <a:off x="3886200" y="4543425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0,628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FEE72962-3EE9-4831-AB82-9BFC9360A0DB}"/>
              </a:ext>
            </a:extLst>
          </p:cNvPr>
          <p:cNvSpPr>
            <a:spLocks noGrp="1"/>
          </p:cNvSpPr>
          <p:nvPr/>
        </p:nvSpPr>
        <p:spPr>
          <a:xfrm>
            <a:off x="4743450" y="4543425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0,580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BAF1A85-5640-4515-B9A0-33C50944225E}"/>
              </a:ext>
            </a:extLst>
          </p:cNvPr>
          <p:cNvSpPr>
            <a:spLocks noGrp="1"/>
          </p:cNvSpPr>
          <p:nvPr/>
        </p:nvSpPr>
        <p:spPr>
          <a:xfrm>
            <a:off x="5505450" y="4543425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0,846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4A23CE1-6774-41E9-B348-DD275DE85B36}"/>
              </a:ext>
            </a:extLst>
          </p:cNvPr>
          <p:cNvSpPr>
            <a:spLocks noGrp="1"/>
          </p:cNvSpPr>
          <p:nvPr/>
        </p:nvSpPr>
        <p:spPr>
          <a:xfrm>
            <a:off x="742950" y="4943475"/>
            <a:ext cx="5429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878A9B50-4B7B-4EF4-8EB4-13E9F8950117}"/>
              </a:ext>
            </a:extLst>
          </p:cNvPr>
          <p:cNvSpPr>
            <a:spLocks noGrp="1"/>
          </p:cNvSpPr>
          <p:nvPr/>
        </p:nvSpPr>
        <p:spPr>
          <a:xfrm>
            <a:off x="742950" y="4781550"/>
            <a:ext cx="1143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HGB Reg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DBAF4A2-7F9D-44B7-AD32-14DCA4128B3A}"/>
              </a:ext>
            </a:extLst>
          </p:cNvPr>
          <p:cNvSpPr>
            <a:spLocks noGrp="1"/>
          </p:cNvSpPr>
          <p:nvPr/>
        </p:nvSpPr>
        <p:spPr>
          <a:xfrm>
            <a:off x="2095500" y="4781550"/>
            <a:ext cx="523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0,63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7C0BC4ED-4907-4E89-91BA-0FA9CF2EADC1}"/>
              </a:ext>
            </a:extLst>
          </p:cNvPr>
          <p:cNvSpPr>
            <a:spLocks noGrp="1"/>
          </p:cNvSpPr>
          <p:nvPr/>
        </p:nvSpPr>
        <p:spPr>
          <a:xfrm>
            <a:off x="2933700" y="4781550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0,532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123B36BA-A067-488E-88F5-98F9A5B9FC4A}"/>
              </a:ext>
            </a:extLst>
          </p:cNvPr>
          <p:cNvSpPr>
            <a:spLocks noGrp="1"/>
          </p:cNvSpPr>
          <p:nvPr/>
        </p:nvSpPr>
        <p:spPr>
          <a:xfrm>
            <a:off x="3886200" y="4781550"/>
            <a:ext cx="5905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0,637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FB4B2504-5C79-4FD2-BD5E-5A2A7058496E}"/>
              </a:ext>
            </a:extLst>
          </p:cNvPr>
          <p:cNvSpPr>
            <a:spLocks noGrp="1"/>
          </p:cNvSpPr>
          <p:nvPr/>
        </p:nvSpPr>
        <p:spPr>
          <a:xfrm>
            <a:off x="4743450" y="478155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0,580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D893708D-30C6-430D-840A-ED5B4AFBDF64}"/>
              </a:ext>
            </a:extLst>
          </p:cNvPr>
          <p:cNvSpPr>
            <a:spLocks noGrp="1"/>
          </p:cNvSpPr>
          <p:nvPr/>
        </p:nvSpPr>
        <p:spPr>
          <a:xfrm>
            <a:off x="5505450" y="4781550"/>
            <a:ext cx="619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0,843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635699F7-DA4A-4E47-9690-A6E11A7E10A6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5429250" cy="514350"/>
          </a:xfrm>
          <a:prstGeom prst="rect">
            <a:avLst/>
          </a:prstGeom>
          <a:solidFill>
            <a:srgbClr val="EFE3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A150000A-D7D1-4DB2-A026-1C7480DCB985}"/>
              </a:ext>
            </a:extLst>
          </p:cNvPr>
          <p:cNvSpPr>
            <a:spLocks noGrp="1"/>
          </p:cNvSpPr>
          <p:nvPr/>
        </p:nvSpPr>
        <p:spPr>
          <a:xfrm>
            <a:off x="742950" y="5010150"/>
            <a:ext cx="38100" cy="514350"/>
          </a:xfrm>
          <a:prstGeom prst="rect">
            <a:avLst/>
          </a:prstGeom>
          <a:solidFill>
            <a:srgbClr val="A66B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F8A72E84-812F-43FC-AA08-6D2828E19E84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5105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15" b="1">
                <a:solidFill>
                  <a:srgbClr val="4D3514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4D3514"/>
                </a:solidFill>
                <a:latin typeface="Avenir Next"/>
                <a:ea typeface="Avenir Next"/>
                <a:cs typeface="Avenir Next"/>
              </a:rPr>
              <a:t>SoftVoting empata en F1, pero XGB AUC conserva mejor precisión con AUC-ROC prácticamente igual.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319C9825-A1B2-4FF6-9A74-17D9323495AC}"/>
              </a:ext>
            </a:extLst>
          </p:cNvPr>
          <p:cNvSpPr>
            <a:spLocks noGrp="1"/>
          </p:cNvSpPr>
          <p:nvPr/>
        </p:nvSpPr>
        <p:spPr>
          <a:xfrm>
            <a:off x="6648450" y="2895600"/>
            <a:ext cx="2381250" cy="27241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F6A27313-406A-452D-921B-7761C34D4A46}"/>
              </a:ext>
            </a:extLst>
          </p:cNvPr>
          <p:cNvSpPr>
            <a:spLocks noGrp="1"/>
          </p:cNvSpPr>
          <p:nvPr/>
        </p:nvSpPr>
        <p:spPr>
          <a:xfrm>
            <a:off x="6648450" y="2895600"/>
            <a:ext cx="238125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33BEABE6-7293-48DD-A23E-BC324C6C4797}"/>
              </a:ext>
            </a:extLst>
          </p:cNvPr>
          <p:cNvSpPr>
            <a:spLocks noGrp="1"/>
          </p:cNvSpPr>
          <p:nvPr/>
        </p:nvSpPr>
        <p:spPr>
          <a:xfrm>
            <a:off x="6838950" y="31051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F1 positivo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CBB93EFB-65B0-48C2-A13B-47F9D9E36B14}"/>
              </a:ext>
            </a:extLst>
          </p:cNvPr>
          <p:cNvSpPr>
            <a:spLocks noGrp="1"/>
          </p:cNvSpPr>
          <p:nvPr/>
        </p:nvSpPr>
        <p:spPr>
          <a:xfrm>
            <a:off x="6838950" y="3524250"/>
            <a:ext cx="857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6AD663A0-58C4-4107-BB75-DB28DCE33EE7}"/>
              </a:ext>
            </a:extLst>
          </p:cNvPr>
          <p:cNvSpPr>
            <a:spLocks noGrp="1"/>
          </p:cNvSpPr>
          <p:nvPr/>
        </p:nvSpPr>
        <p:spPr>
          <a:xfrm>
            <a:off x="7734300" y="3571875"/>
            <a:ext cx="600075" cy="85725"/>
          </a:xfrm>
          <a:prstGeom prst="rect">
            <a:avLst/>
          </a:prstGeom>
          <a:solidFill>
            <a:srgbClr val="DDD4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53C7B681-CC5A-4EB9-9B74-40B9B2AD3151}"/>
              </a:ext>
            </a:extLst>
          </p:cNvPr>
          <p:cNvSpPr>
            <a:spLocks noGrp="1"/>
          </p:cNvSpPr>
          <p:nvPr/>
        </p:nvSpPr>
        <p:spPr>
          <a:xfrm>
            <a:off x="7734300" y="3571875"/>
            <a:ext cx="584073" cy="8572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C085044F-AE36-4BE0-8384-6CE816174B38}"/>
              </a:ext>
            </a:extLst>
          </p:cNvPr>
          <p:cNvSpPr>
            <a:spLocks noGrp="1"/>
          </p:cNvSpPr>
          <p:nvPr/>
        </p:nvSpPr>
        <p:spPr>
          <a:xfrm>
            <a:off x="8372475" y="3514725"/>
            <a:ext cx="4191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92" name="Rectángulo 91">
            <a:extLst>
              <a:ext uri="{FF2B5EF4-FFF2-40B4-BE49-F238E27FC236}">
                <a16:creationId xmlns:a16="http://schemas.microsoft.com/office/drawing/2014/main" id="{018902D4-8C5E-425C-A6AC-795416292ED3}"/>
              </a:ext>
            </a:extLst>
          </p:cNvPr>
          <p:cNvSpPr>
            <a:spLocks noGrp="1"/>
          </p:cNvSpPr>
          <p:nvPr/>
        </p:nvSpPr>
        <p:spPr>
          <a:xfrm>
            <a:off x="6838950" y="3819525"/>
            <a:ext cx="857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SoftVoting</a:t>
            </a:r>
          </a:p>
        </p:txBody>
      </p:sp>
      <p:sp>
        <p:nvSpPr>
          <p:cNvPr id="93" name="Rectángulo 92">
            <a:extLst>
              <a:ext uri="{FF2B5EF4-FFF2-40B4-BE49-F238E27FC236}">
                <a16:creationId xmlns:a16="http://schemas.microsoft.com/office/drawing/2014/main" id="{3B8FC21D-DB07-4178-9F7F-45132E1DDC20}"/>
              </a:ext>
            </a:extLst>
          </p:cNvPr>
          <p:cNvSpPr>
            <a:spLocks noGrp="1"/>
          </p:cNvSpPr>
          <p:nvPr/>
        </p:nvSpPr>
        <p:spPr>
          <a:xfrm>
            <a:off x="7734300" y="3867150"/>
            <a:ext cx="600075" cy="85725"/>
          </a:xfrm>
          <a:prstGeom prst="rect">
            <a:avLst/>
          </a:prstGeom>
          <a:solidFill>
            <a:srgbClr val="DDD4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623EA65F-29F5-48FA-8976-EDF98BD968A8}"/>
              </a:ext>
            </a:extLst>
          </p:cNvPr>
          <p:cNvSpPr>
            <a:spLocks noGrp="1"/>
          </p:cNvSpPr>
          <p:nvPr/>
        </p:nvSpPr>
        <p:spPr>
          <a:xfrm>
            <a:off x="7734300" y="3867150"/>
            <a:ext cx="584073" cy="85725"/>
          </a:xfrm>
          <a:prstGeom prst="rect">
            <a:avLst/>
          </a:prstGeom>
          <a:solidFill>
            <a:srgbClr val="4C5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6F8D3B7B-3A12-4D58-BF2D-AFB4B273E786}"/>
              </a:ext>
            </a:extLst>
          </p:cNvPr>
          <p:cNvSpPr>
            <a:spLocks noGrp="1"/>
          </p:cNvSpPr>
          <p:nvPr/>
        </p:nvSpPr>
        <p:spPr>
          <a:xfrm>
            <a:off x="8372475" y="3810000"/>
            <a:ext cx="4191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F47F9DB5-C8AC-468E-950B-C74479C48EF1}"/>
              </a:ext>
            </a:extLst>
          </p:cNvPr>
          <p:cNvSpPr>
            <a:spLocks noGrp="1"/>
          </p:cNvSpPr>
          <p:nvPr/>
        </p:nvSpPr>
        <p:spPr>
          <a:xfrm>
            <a:off x="6838950" y="4114800"/>
            <a:ext cx="857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XGB F1Bal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5546D848-5A87-4EA2-9709-A178AF6251EE}"/>
              </a:ext>
            </a:extLst>
          </p:cNvPr>
          <p:cNvSpPr>
            <a:spLocks noGrp="1"/>
          </p:cNvSpPr>
          <p:nvPr/>
        </p:nvSpPr>
        <p:spPr>
          <a:xfrm>
            <a:off x="7734300" y="4162425"/>
            <a:ext cx="600075" cy="85725"/>
          </a:xfrm>
          <a:prstGeom prst="rect">
            <a:avLst/>
          </a:prstGeom>
          <a:solidFill>
            <a:srgbClr val="DDD4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84D1E304-4533-4837-B46A-57A09EA1642C}"/>
              </a:ext>
            </a:extLst>
          </p:cNvPr>
          <p:cNvSpPr>
            <a:spLocks noGrp="1"/>
          </p:cNvSpPr>
          <p:nvPr/>
        </p:nvSpPr>
        <p:spPr>
          <a:xfrm>
            <a:off x="7734300" y="4162425"/>
            <a:ext cx="582073" cy="85725"/>
          </a:xfrm>
          <a:prstGeom prst="rect">
            <a:avLst/>
          </a:prstGeom>
          <a:solidFill>
            <a:srgbClr val="7268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90F18A31-9D5B-4A82-85C1-61EF8532AD2C}"/>
              </a:ext>
            </a:extLst>
          </p:cNvPr>
          <p:cNvSpPr>
            <a:spLocks noGrp="1"/>
          </p:cNvSpPr>
          <p:nvPr/>
        </p:nvSpPr>
        <p:spPr>
          <a:xfrm>
            <a:off x="8372475" y="4105275"/>
            <a:ext cx="4191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0,582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1010F2A0-8480-4E25-A665-C810A6830989}"/>
              </a:ext>
            </a:extLst>
          </p:cNvPr>
          <p:cNvSpPr>
            <a:spLocks noGrp="1"/>
          </p:cNvSpPr>
          <p:nvPr/>
        </p:nvSpPr>
        <p:spPr>
          <a:xfrm>
            <a:off x="6838950" y="4410075"/>
            <a:ext cx="857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GradBoost</a:t>
            </a: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7199E070-F817-4177-9979-396044A9995B}"/>
              </a:ext>
            </a:extLst>
          </p:cNvPr>
          <p:cNvSpPr>
            <a:spLocks noGrp="1"/>
          </p:cNvSpPr>
          <p:nvPr/>
        </p:nvSpPr>
        <p:spPr>
          <a:xfrm>
            <a:off x="7734300" y="4457700"/>
            <a:ext cx="600075" cy="85725"/>
          </a:xfrm>
          <a:prstGeom prst="rect">
            <a:avLst/>
          </a:prstGeom>
          <a:solidFill>
            <a:srgbClr val="DDD4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FD91EB67-4338-4928-A019-99F8F5CC7B48}"/>
              </a:ext>
            </a:extLst>
          </p:cNvPr>
          <p:cNvSpPr>
            <a:spLocks noGrp="1"/>
          </p:cNvSpPr>
          <p:nvPr/>
        </p:nvSpPr>
        <p:spPr>
          <a:xfrm>
            <a:off x="7734300" y="4457700"/>
            <a:ext cx="580073" cy="85725"/>
          </a:xfrm>
          <a:prstGeom prst="rect">
            <a:avLst/>
          </a:prstGeom>
          <a:solidFill>
            <a:srgbClr val="7268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Rectángulo 102">
            <a:extLst>
              <a:ext uri="{FF2B5EF4-FFF2-40B4-BE49-F238E27FC236}">
                <a16:creationId xmlns:a16="http://schemas.microsoft.com/office/drawing/2014/main" id="{FA4F7CFC-8016-4F52-B0BD-FC100742214F}"/>
              </a:ext>
            </a:extLst>
          </p:cNvPr>
          <p:cNvSpPr>
            <a:spLocks noGrp="1"/>
          </p:cNvSpPr>
          <p:nvPr/>
        </p:nvSpPr>
        <p:spPr>
          <a:xfrm>
            <a:off x="8372475" y="4400550"/>
            <a:ext cx="4191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0,580</a:t>
            </a:r>
          </a:p>
        </p:txBody>
      </p:sp>
      <p:sp>
        <p:nvSpPr>
          <p:cNvPr id="104" name="Rectángulo 103">
            <a:extLst>
              <a:ext uri="{FF2B5EF4-FFF2-40B4-BE49-F238E27FC236}">
                <a16:creationId xmlns:a16="http://schemas.microsoft.com/office/drawing/2014/main" id="{677F5700-7699-474E-8092-33D0125040E6}"/>
              </a:ext>
            </a:extLst>
          </p:cNvPr>
          <p:cNvSpPr>
            <a:spLocks noGrp="1"/>
          </p:cNvSpPr>
          <p:nvPr/>
        </p:nvSpPr>
        <p:spPr>
          <a:xfrm>
            <a:off x="6838950" y="4705350"/>
            <a:ext cx="8572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HGB Reg</a:t>
            </a:r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41BDB53E-7DEF-4AC8-A25D-353B0AF2D353}"/>
              </a:ext>
            </a:extLst>
          </p:cNvPr>
          <p:cNvSpPr>
            <a:spLocks noGrp="1"/>
          </p:cNvSpPr>
          <p:nvPr/>
        </p:nvSpPr>
        <p:spPr>
          <a:xfrm>
            <a:off x="7734300" y="4752975"/>
            <a:ext cx="600075" cy="85725"/>
          </a:xfrm>
          <a:prstGeom prst="rect">
            <a:avLst/>
          </a:prstGeom>
          <a:solidFill>
            <a:srgbClr val="DDD4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C1627BA7-DB62-404E-B8ED-1D252D547E07}"/>
              </a:ext>
            </a:extLst>
          </p:cNvPr>
          <p:cNvSpPr>
            <a:spLocks noGrp="1"/>
          </p:cNvSpPr>
          <p:nvPr/>
        </p:nvSpPr>
        <p:spPr>
          <a:xfrm>
            <a:off x="7734300" y="4752975"/>
            <a:ext cx="580073" cy="85725"/>
          </a:xfrm>
          <a:prstGeom prst="rect">
            <a:avLst/>
          </a:prstGeom>
          <a:solidFill>
            <a:srgbClr val="7268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28A54493-BE3F-4A3E-9B9F-3FEEB99CD2CE}"/>
              </a:ext>
            </a:extLst>
          </p:cNvPr>
          <p:cNvSpPr>
            <a:spLocks noGrp="1"/>
          </p:cNvSpPr>
          <p:nvPr/>
        </p:nvSpPr>
        <p:spPr>
          <a:xfrm>
            <a:off x="8372475" y="4695825"/>
            <a:ext cx="4191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0,580</a:t>
            </a:r>
          </a:p>
        </p:txBody>
      </p:sp>
      <p:sp>
        <p:nvSpPr>
          <p:cNvPr id="108" name="Rectángulo 107">
            <a:extLst>
              <a:ext uri="{FF2B5EF4-FFF2-40B4-BE49-F238E27FC236}">
                <a16:creationId xmlns:a16="http://schemas.microsoft.com/office/drawing/2014/main" id="{8001E6A9-2CB1-414D-A540-22B19914998D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Matriz de confusión</a:t>
            </a:r>
          </a:p>
        </p:txBody>
      </p:sp>
      <p:pic>
        <p:nvPicPr>
          <p:cNvPr id="224" name="Imagen 10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58300" y="3392871"/>
            <a:ext cx="2343150" cy="1939159"/>
          </a:xfrm>
          <a:prstGeom prst="rect">
            <a:avLst/>
          </a:prstGeom>
        </p:spPr>
      </p:pic>
      <p:sp>
        <p:nvSpPr>
          <p:cNvPr id="110" name="Rectángulo 109">
            <a:extLst>
              <a:ext uri="{FF2B5EF4-FFF2-40B4-BE49-F238E27FC236}">
                <a16:creationId xmlns:a16="http://schemas.microsoft.com/office/drawing/2014/main" id="{DC8A7D4E-7750-42DB-A0BF-8208427E298B}"/>
              </a:ext>
            </a:extLst>
          </p:cNvPr>
          <p:cNvSpPr>
            <a:spLocks noGrp="1"/>
          </p:cNvSpPr>
          <p:nvPr/>
        </p:nvSpPr>
        <p:spPr>
          <a:xfrm>
            <a:off x="552450" y="5791200"/>
            <a:ext cx="11049000" cy="5524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Rectángulo 110">
            <a:extLst>
              <a:ext uri="{FF2B5EF4-FFF2-40B4-BE49-F238E27FC236}">
                <a16:creationId xmlns:a16="http://schemas.microsoft.com/office/drawing/2014/main" id="{1EBDCA13-5203-4B9C-9A01-84C184F559AF}"/>
              </a:ext>
            </a:extLst>
          </p:cNvPr>
          <p:cNvSpPr>
            <a:spLocks noGrp="1"/>
          </p:cNvSpPr>
          <p:nvPr/>
        </p:nvSpPr>
        <p:spPr>
          <a:xfrm>
            <a:off x="552450" y="5791200"/>
            <a:ext cx="110490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2" name="Rectángulo 111">
            <a:extLst>
              <a:ext uri="{FF2B5EF4-FFF2-40B4-BE49-F238E27FC236}">
                <a16:creationId xmlns:a16="http://schemas.microsoft.com/office/drawing/2014/main" id="{0E428908-2EE6-4C7D-BD2C-570BA3AAB5BB}"/>
              </a:ext>
            </a:extLst>
          </p:cNvPr>
          <p:cNvSpPr>
            <a:spLocks noGrp="1"/>
          </p:cNvSpPr>
          <p:nvPr/>
        </p:nvSpPr>
        <p:spPr>
          <a:xfrm>
            <a:off x="742950" y="59626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113" name="Rectángulo 112">
            <a:extLst>
              <a:ext uri="{FF2B5EF4-FFF2-40B4-BE49-F238E27FC236}">
                <a16:creationId xmlns:a16="http://schemas.microsoft.com/office/drawing/2014/main" id="{708E59D8-87EB-4FE0-AF78-CD2E5EFCC906}"/>
              </a:ext>
            </a:extLst>
          </p:cNvPr>
          <p:cNvSpPr>
            <a:spLocks noGrp="1"/>
          </p:cNvSpPr>
          <p:nvPr/>
        </p:nvSpPr>
        <p:spPr>
          <a:xfrm>
            <a:off x="933450" y="5972175"/>
            <a:ext cx="10287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El desbalance hace engañosa la accuracy; el foco correcto es F1/recall de cáncer=1.</a:t>
            </a:r>
          </a:p>
        </p:txBody>
      </p:sp>
      <p:sp>
        <p:nvSpPr>
          <p:cNvPr id="114" name="Rectángulo 113">
            <a:extLst>
              <a:ext uri="{FF2B5EF4-FFF2-40B4-BE49-F238E27FC236}">
                <a16:creationId xmlns:a16="http://schemas.microsoft.com/office/drawing/2014/main" id="{21764606-F0FF-4891-884F-8AAEC01D38F5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4B293991-58BF-47DE-9548-45DC90DFD4D1}"/>
              </a:ext>
            </a:extLst>
          </p:cNvPr>
          <p:cNvSpPr>
            <a:spLocks noGrp="1"/>
          </p:cNvSpPr>
          <p:nvPr/>
        </p:nvSpPr>
        <p:spPr>
          <a:xfrm>
            <a:off x="933450" y="6162675"/>
            <a:ext cx="102870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SoftVoting queda como alternativa si el coste de perder positivos pesa más que la precisión.</a:t>
            </a:r>
          </a:p>
        </p:txBody>
      </p:sp>
    </p:spTree>
    <p:extLst>
      <p:ext uri="{BB962C8B-B14F-4D97-AF65-F5344CB8AC3E}">
        <p14:creationId xmlns:p14="http://schemas.microsoft.com/office/powerpoint/2010/main" val="1098889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>
            <a:extLst>
              <a:ext uri="{FF2B5EF4-FFF2-40B4-BE49-F238E27FC236}">
                <a16:creationId xmlns:a16="http://schemas.microsoft.com/office/drawing/2014/main" id="{F5150599-D0C4-480A-8A94-A4D6BB84A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3541A6-2F6A-4FBC-9A4B-CCB7094328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BB4EEAB-C3DD-46F6-9A86-502937A4395D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842AA9-700D-461D-BF8E-C2B88DA9871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RED NEURONAL MLP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B443B9F-1938-4E20-959D-1BE6BD1D3B0C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8572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925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La MLP valida el enfoque, pero no gana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40EA80-B567-4717-8C5F-84A52F3B142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La red mantiene recall competitivo; el coste aparece en precisión, F1 y complejidad operativa.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8253CE-B255-44FE-8E29-D976EBEC8D59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552450" cy="190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406910-7CB9-487B-8852-50EF95505293}"/>
              </a:ext>
            </a:extLst>
          </p:cNvPr>
          <p:cNvSpPr>
            <a:spLocks noGrp="1"/>
          </p:cNvSpPr>
          <p:nvPr/>
        </p:nvSpPr>
        <p:spPr>
          <a:xfrm>
            <a:off x="11239500" y="12763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7A1F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7A1F2B"/>
                </a:solidFill>
                <a:latin typeface="Georgia"/>
                <a:ea typeface="Georgia"/>
                <a:cs typeface="Georgia"/>
              </a:rPr>
              <a:t>3/5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AFDA2D4-7889-4748-B97A-B5896654DE18}"/>
              </a:ext>
            </a:extLst>
          </p:cNvPr>
          <p:cNvSpPr>
            <a:spLocks noGrp="1"/>
          </p:cNvSpPr>
          <p:nvPr/>
        </p:nvSpPr>
        <p:spPr>
          <a:xfrm>
            <a:off x="11049000" y="1543050"/>
            <a:ext cx="552450" cy="9525"/>
          </a:xfrm>
          <a:prstGeom prst="rect">
            <a:avLst/>
          </a:prstGeom>
          <a:solidFill>
            <a:srgbClr val="BDB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2E920DA-57DC-4CD8-9473-4F28150CE699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495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Predicción de diagnóstico de cáncer · comparativa ML vs MLP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F6F771-CC3C-4CF8-AD72-1BB011791B59}"/>
              </a:ext>
            </a:extLst>
          </p:cNvPr>
          <p:cNvSpPr>
            <a:spLocks noGrp="1"/>
          </p:cNvSpPr>
          <p:nvPr/>
        </p:nvSpPr>
        <p:spPr>
          <a:xfrm>
            <a:off x="8458200" y="6515100"/>
            <a:ext cx="3143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seed 42 · umbrales seleccionados en 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265165-E78E-429C-861B-BC4085138858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Arquitectura validada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59E498A-77F4-44C0-B523-CCCC4BBA4722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1200150" cy="6286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970239B-12E8-4406-ABBE-700B6AB6789D}"/>
              </a:ext>
            </a:extLst>
          </p:cNvPr>
          <p:cNvSpPr>
            <a:spLocks noGrp="1"/>
          </p:cNvSpPr>
          <p:nvPr/>
        </p:nvSpPr>
        <p:spPr>
          <a:xfrm>
            <a:off x="552450" y="2400300"/>
            <a:ext cx="120015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554E82D-B52F-4F7F-9A21-AE6A1C3531C8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Entrada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592C567-1B81-4EF3-8649-7DE17B0EC2B2}"/>
              </a:ext>
            </a:extLst>
          </p:cNvPr>
          <p:cNvSpPr>
            <a:spLocks noGrp="1"/>
          </p:cNvSpPr>
          <p:nvPr/>
        </p:nvSpPr>
        <p:spPr>
          <a:xfrm>
            <a:off x="628650" y="27813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features</a:t>
            </a:r>
          </a:p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preprocesadas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F5A4AA6-3DD4-4B70-974C-FAE74433E350}"/>
              </a:ext>
            </a:extLst>
          </p:cNvPr>
          <p:cNvSpPr>
            <a:spLocks noGrp="1"/>
          </p:cNvSpPr>
          <p:nvPr/>
        </p:nvSpPr>
        <p:spPr>
          <a:xfrm>
            <a:off x="1847850" y="2400300"/>
            <a:ext cx="1200150" cy="6286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60B7504-5332-4778-A7BF-E808ECBD61C3}"/>
              </a:ext>
            </a:extLst>
          </p:cNvPr>
          <p:cNvSpPr>
            <a:spLocks noGrp="1"/>
          </p:cNvSpPr>
          <p:nvPr/>
        </p:nvSpPr>
        <p:spPr>
          <a:xfrm>
            <a:off x="1847850" y="2400300"/>
            <a:ext cx="12001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B36EB3-9A1C-466B-A6BB-A16018DE0522}"/>
              </a:ext>
            </a:extLst>
          </p:cNvPr>
          <p:cNvSpPr>
            <a:spLocks noGrp="1"/>
          </p:cNvSpPr>
          <p:nvPr/>
        </p:nvSpPr>
        <p:spPr>
          <a:xfrm>
            <a:off x="1924050" y="25527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Dense 256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70A8B63-B5C5-420A-B5CB-E431A5900FF1}"/>
              </a:ext>
            </a:extLst>
          </p:cNvPr>
          <p:cNvSpPr>
            <a:spLocks noGrp="1"/>
          </p:cNvSpPr>
          <p:nvPr/>
        </p:nvSpPr>
        <p:spPr>
          <a:xfrm>
            <a:off x="1924050" y="27813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BN + Dropout .25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4785D7A-4556-4009-A76E-D16D1FD13068}"/>
              </a:ext>
            </a:extLst>
          </p:cNvPr>
          <p:cNvSpPr>
            <a:spLocks noGrp="1"/>
          </p:cNvSpPr>
          <p:nvPr/>
        </p:nvSpPr>
        <p:spPr>
          <a:xfrm>
            <a:off x="3143250" y="2400300"/>
            <a:ext cx="1200150" cy="6286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DEF06F1-71C1-4040-A541-49399EBA81B8}"/>
              </a:ext>
            </a:extLst>
          </p:cNvPr>
          <p:cNvSpPr>
            <a:spLocks noGrp="1"/>
          </p:cNvSpPr>
          <p:nvPr/>
        </p:nvSpPr>
        <p:spPr>
          <a:xfrm>
            <a:off x="3143250" y="2400300"/>
            <a:ext cx="12001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8FD75A0-6E24-4571-9F9A-F9530E4E7DBA}"/>
              </a:ext>
            </a:extLst>
          </p:cNvPr>
          <p:cNvSpPr>
            <a:spLocks noGrp="1"/>
          </p:cNvSpPr>
          <p:nvPr/>
        </p:nvSpPr>
        <p:spPr>
          <a:xfrm>
            <a:off x="3219450" y="25527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Dense 128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15BEA02-5455-4BF3-9D4E-F5B5F5D3126D}"/>
              </a:ext>
            </a:extLst>
          </p:cNvPr>
          <p:cNvSpPr>
            <a:spLocks noGrp="1"/>
          </p:cNvSpPr>
          <p:nvPr/>
        </p:nvSpPr>
        <p:spPr>
          <a:xfrm>
            <a:off x="3219450" y="27813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BN + Dropout .25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7B88CF6-738E-4CB1-958B-56AF92EE863B}"/>
              </a:ext>
            </a:extLst>
          </p:cNvPr>
          <p:cNvSpPr>
            <a:spLocks noGrp="1"/>
          </p:cNvSpPr>
          <p:nvPr/>
        </p:nvSpPr>
        <p:spPr>
          <a:xfrm>
            <a:off x="4438650" y="2400300"/>
            <a:ext cx="1200150" cy="6286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45A5377-EFB6-482B-825D-86252BDBB3AB}"/>
              </a:ext>
            </a:extLst>
          </p:cNvPr>
          <p:cNvSpPr>
            <a:spLocks noGrp="1"/>
          </p:cNvSpPr>
          <p:nvPr/>
        </p:nvSpPr>
        <p:spPr>
          <a:xfrm>
            <a:off x="4438650" y="2400300"/>
            <a:ext cx="12001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0E50271-C774-4EF5-B14A-EC7BC65E6C20}"/>
              </a:ext>
            </a:extLst>
          </p:cNvPr>
          <p:cNvSpPr>
            <a:spLocks noGrp="1"/>
          </p:cNvSpPr>
          <p:nvPr/>
        </p:nvSpPr>
        <p:spPr>
          <a:xfrm>
            <a:off x="4514850" y="25527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Dense 64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57AEB53-4A1D-40FA-A560-B94B3B9DA47C}"/>
              </a:ext>
            </a:extLst>
          </p:cNvPr>
          <p:cNvSpPr>
            <a:spLocks noGrp="1"/>
          </p:cNvSpPr>
          <p:nvPr/>
        </p:nvSpPr>
        <p:spPr>
          <a:xfrm>
            <a:off x="4514850" y="27813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BN + Dropout .20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3D3C940-AE1E-45F3-AAB3-47B9B91BB92B}"/>
              </a:ext>
            </a:extLst>
          </p:cNvPr>
          <p:cNvSpPr>
            <a:spLocks noGrp="1"/>
          </p:cNvSpPr>
          <p:nvPr/>
        </p:nvSpPr>
        <p:spPr>
          <a:xfrm>
            <a:off x="5734050" y="2400300"/>
            <a:ext cx="1200150" cy="6286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A2B84A34-995E-48B7-B6C0-BCDF966CC79A}"/>
              </a:ext>
            </a:extLst>
          </p:cNvPr>
          <p:cNvSpPr>
            <a:spLocks noGrp="1"/>
          </p:cNvSpPr>
          <p:nvPr/>
        </p:nvSpPr>
        <p:spPr>
          <a:xfrm>
            <a:off x="5734050" y="2400300"/>
            <a:ext cx="120015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DEC3848-1D00-4FD1-9B05-1B8CB5D82952}"/>
              </a:ext>
            </a:extLst>
          </p:cNvPr>
          <p:cNvSpPr>
            <a:spLocks noGrp="1"/>
          </p:cNvSpPr>
          <p:nvPr/>
        </p:nvSpPr>
        <p:spPr>
          <a:xfrm>
            <a:off x="5810250" y="25527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Salida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E896648-76C7-4B7A-A274-A6525A04A023}"/>
              </a:ext>
            </a:extLst>
          </p:cNvPr>
          <p:cNvSpPr>
            <a:spLocks noGrp="1"/>
          </p:cNvSpPr>
          <p:nvPr/>
        </p:nvSpPr>
        <p:spPr>
          <a:xfrm>
            <a:off x="5810250" y="27813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1 sigmoid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1D922A1-F61F-4FC6-A3BB-985D8E1A73B7}"/>
              </a:ext>
            </a:extLst>
          </p:cNvPr>
          <p:cNvSpPr>
            <a:spLocks noGrp="1"/>
          </p:cNvSpPr>
          <p:nvPr/>
        </p:nvSpPr>
        <p:spPr>
          <a:xfrm>
            <a:off x="7315200" y="2038350"/>
            <a:ext cx="4286250" cy="13525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CE9D8B8-BF06-45EA-9814-C3E340B84DE2}"/>
              </a:ext>
            </a:extLst>
          </p:cNvPr>
          <p:cNvSpPr>
            <a:spLocks noGrp="1"/>
          </p:cNvSpPr>
          <p:nvPr/>
        </p:nvSpPr>
        <p:spPr>
          <a:xfrm>
            <a:off x="7315200" y="2038350"/>
            <a:ext cx="42862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A55EC557-A4CE-4132-B682-69FA33E85CDE}"/>
              </a:ext>
            </a:extLst>
          </p:cNvPr>
          <p:cNvSpPr>
            <a:spLocks noGrp="1"/>
          </p:cNvSpPr>
          <p:nvPr/>
        </p:nvSpPr>
        <p:spPr>
          <a:xfrm>
            <a:off x="7505700" y="22479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Comparación directa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79AF5F5-7D8C-459E-A826-8F83AD3E90F9}"/>
              </a:ext>
            </a:extLst>
          </p:cNvPr>
          <p:cNvSpPr>
            <a:spLocks noGrp="1"/>
          </p:cNvSpPr>
          <p:nvPr/>
        </p:nvSpPr>
        <p:spPr>
          <a:xfrm>
            <a:off x="7505700" y="2667000"/>
            <a:ext cx="3905250" cy="190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597F89D8-2FC7-4115-AD2E-0504D63C5C4C}"/>
              </a:ext>
            </a:extLst>
          </p:cNvPr>
          <p:cNvSpPr>
            <a:spLocks noGrp="1"/>
          </p:cNvSpPr>
          <p:nvPr/>
        </p:nvSpPr>
        <p:spPr>
          <a:xfrm>
            <a:off x="7505700" y="2933700"/>
            <a:ext cx="3905250" cy="9525"/>
          </a:xfrm>
          <a:prstGeom prst="rect">
            <a:avLst/>
          </a:prstGeom>
          <a:solidFill>
            <a:srgbClr val="8077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5242C0C-99D1-4E50-BAE1-0A7097FD81A4}"/>
              </a:ext>
            </a:extLst>
          </p:cNvPr>
          <p:cNvSpPr>
            <a:spLocks noGrp="1"/>
          </p:cNvSpPr>
          <p:nvPr/>
        </p:nvSpPr>
        <p:spPr>
          <a:xfrm>
            <a:off x="7505700" y="2752725"/>
            <a:ext cx="781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Modelo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169432C7-026F-4E61-9010-1B07F3A63D8C}"/>
              </a:ext>
            </a:extLst>
          </p:cNvPr>
          <p:cNvSpPr>
            <a:spLocks noGrp="1"/>
          </p:cNvSpPr>
          <p:nvPr/>
        </p:nvSpPr>
        <p:spPr>
          <a:xfrm>
            <a:off x="8572500" y="275272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Precisión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74FF5D3-9B23-4FC3-8FD8-2F7735440DA3}"/>
              </a:ext>
            </a:extLst>
          </p:cNvPr>
          <p:cNvSpPr>
            <a:spLocks noGrp="1"/>
          </p:cNvSpPr>
          <p:nvPr/>
        </p:nvSpPr>
        <p:spPr>
          <a:xfrm>
            <a:off x="9458325" y="2752725"/>
            <a:ext cx="51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Recall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BB458C9-1082-4DFA-B241-26B07CCF9377}"/>
              </a:ext>
            </a:extLst>
          </p:cNvPr>
          <p:cNvSpPr>
            <a:spLocks noGrp="1"/>
          </p:cNvSpPr>
          <p:nvPr/>
        </p:nvSpPr>
        <p:spPr>
          <a:xfrm>
            <a:off x="10287000" y="2752725"/>
            <a:ext cx="438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F1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C908500D-8D3E-4336-9687-B86E421C0E73}"/>
              </a:ext>
            </a:extLst>
          </p:cNvPr>
          <p:cNvSpPr>
            <a:spLocks noGrp="1"/>
          </p:cNvSpPr>
          <p:nvPr/>
        </p:nvSpPr>
        <p:spPr>
          <a:xfrm>
            <a:off x="10953750" y="2752725"/>
            <a:ext cx="4191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AUC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4D511FBE-8377-4809-8383-27D187F6D3D6}"/>
              </a:ext>
            </a:extLst>
          </p:cNvPr>
          <p:cNvSpPr>
            <a:spLocks noGrp="1"/>
          </p:cNvSpPr>
          <p:nvPr/>
        </p:nvSpPr>
        <p:spPr>
          <a:xfrm>
            <a:off x="7505700" y="3200400"/>
            <a:ext cx="3905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A66662D5-E22F-494B-908B-73FD326BCA79}"/>
              </a:ext>
            </a:extLst>
          </p:cNvPr>
          <p:cNvSpPr>
            <a:spLocks noGrp="1"/>
          </p:cNvSpPr>
          <p:nvPr/>
        </p:nvSpPr>
        <p:spPr>
          <a:xfrm>
            <a:off x="7505700" y="3009900"/>
            <a:ext cx="7810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7CDFC52F-89F0-4785-8E0A-7A96350E0206}"/>
              </a:ext>
            </a:extLst>
          </p:cNvPr>
          <p:cNvSpPr>
            <a:spLocks noGrp="1"/>
          </p:cNvSpPr>
          <p:nvPr/>
        </p:nvSpPr>
        <p:spPr>
          <a:xfrm>
            <a:off x="8572500" y="3009900"/>
            <a:ext cx="5524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0,578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D25918F4-AB03-446F-B7AA-BF5445B4B8E6}"/>
              </a:ext>
            </a:extLst>
          </p:cNvPr>
          <p:cNvSpPr>
            <a:spLocks noGrp="1"/>
          </p:cNvSpPr>
          <p:nvPr/>
        </p:nvSpPr>
        <p:spPr>
          <a:xfrm>
            <a:off x="9458325" y="3009900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0,591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EB8F968-95C9-4BBE-A8AA-D7448120FAA0}"/>
              </a:ext>
            </a:extLst>
          </p:cNvPr>
          <p:cNvSpPr>
            <a:spLocks noGrp="1"/>
          </p:cNvSpPr>
          <p:nvPr/>
        </p:nvSpPr>
        <p:spPr>
          <a:xfrm>
            <a:off x="10287000" y="3009900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46A90436-E146-4E29-A922-0846877094A9}"/>
              </a:ext>
            </a:extLst>
          </p:cNvPr>
          <p:cNvSpPr>
            <a:spLocks noGrp="1"/>
          </p:cNvSpPr>
          <p:nvPr/>
        </p:nvSpPr>
        <p:spPr>
          <a:xfrm>
            <a:off x="10953750" y="3009900"/>
            <a:ext cx="419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0,848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88E6A73-7133-4132-8CFB-6FD43D16D991}"/>
              </a:ext>
            </a:extLst>
          </p:cNvPr>
          <p:cNvSpPr>
            <a:spLocks noGrp="1"/>
          </p:cNvSpPr>
          <p:nvPr/>
        </p:nvSpPr>
        <p:spPr>
          <a:xfrm>
            <a:off x="7505700" y="3467100"/>
            <a:ext cx="39052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98E401D-9E07-406A-8ECD-8B09041DE165}"/>
              </a:ext>
            </a:extLst>
          </p:cNvPr>
          <p:cNvSpPr>
            <a:spLocks noGrp="1"/>
          </p:cNvSpPr>
          <p:nvPr/>
        </p:nvSpPr>
        <p:spPr>
          <a:xfrm>
            <a:off x="7505700" y="3276600"/>
            <a:ext cx="7810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MLP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E9C1F0E-1ABC-43D9-9B0D-84A398717E0B}"/>
              </a:ext>
            </a:extLst>
          </p:cNvPr>
          <p:cNvSpPr>
            <a:spLocks noGrp="1"/>
          </p:cNvSpPr>
          <p:nvPr/>
        </p:nvSpPr>
        <p:spPr>
          <a:xfrm>
            <a:off x="8572500" y="3276600"/>
            <a:ext cx="5524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0,520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C169177C-44C7-47D3-80DE-31000D1EB0A8}"/>
              </a:ext>
            </a:extLst>
          </p:cNvPr>
          <p:cNvSpPr>
            <a:spLocks noGrp="1"/>
          </p:cNvSpPr>
          <p:nvPr/>
        </p:nvSpPr>
        <p:spPr>
          <a:xfrm>
            <a:off x="9458325" y="3276600"/>
            <a:ext cx="5143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0,620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4144A81-9C32-4A81-A4FB-CE9D6A90CAD3}"/>
              </a:ext>
            </a:extLst>
          </p:cNvPr>
          <p:cNvSpPr>
            <a:spLocks noGrp="1"/>
          </p:cNvSpPr>
          <p:nvPr/>
        </p:nvSpPr>
        <p:spPr>
          <a:xfrm>
            <a:off x="10287000" y="3276600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0,565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D7AA9A9E-BCCD-4595-AD7C-53270A7532EE}"/>
              </a:ext>
            </a:extLst>
          </p:cNvPr>
          <p:cNvSpPr>
            <a:spLocks noGrp="1"/>
          </p:cNvSpPr>
          <p:nvPr/>
        </p:nvSpPr>
        <p:spPr>
          <a:xfrm>
            <a:off x="10953750" y="3276600"/>
            <a:ext cx="4191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0,840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E21D57EA-5AE6-4B79-9664-9F2A4EA899E6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Curvas de entrenamiento MLP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EF89E4B-CD6D-4E79-9B62-F5604D71D5CF}"/>
              </a:ext>
            </a:extLst>
          </p:cNvPr>
          <p:cNvSpPr>
            <a:spLocks noGrp="1"/>
          </p:cNvSpPr>
          <p:nvPr/>
        </p:nvSpPr>
        <p:spPr>
          <a:xfrm>
            <a:off x="552450" y="3693072"/>
            <a:ext cx="400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La imagen sale del recuadro para ganar escala y legibilidad.</a:t>
            </a:r>
          </a:p>
        </p:txBody>
      </p:sp>
      <p:pic>
        <p:nvPicPr>
          <p:cNvPr id="124" name="Imagen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2459" y="3867150"/>
            <a:ext cx="6076950" cy="2209800"/>
          </a:xfrm>
          <a:prstGeom prst="rect">
            <a:avLst/>
          </a:prstGeom>
        </p:spPr>
      </p:pic>
      <p:sp>
        <p:nvSpPr>
          <p:cNvPr id="58" name="Rectángulo 57">
            <a:extLst>
              <a:ext uri="{FF2B5EF4-FFF2-40B4-BE49-F238E27FC236}">
                <a16:creationId xmlns:a16="http://schemas.microsoft.com/office/drawing/2014/main" id="{6CA4D4D9-F4FD-4478-A8E8-5BAEA7D47903}"/>
              </a:ext>
            </a:extLst>
          </p:cNvPr>
          <p:cNvSpPr>
            <a:spLocks noGrp="1"/>
          </p:cNvSpPr>
          <p:nvPr/>
        </p:nvSpPr>
        <p:spPr>
          <a:xfrm>
            <a:off x="8096250" y="3752850"/>
            <a:ext cx="3505200" cy="20383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57011E18-4F05-4DB5-BEC9-A456A97D8E8D}"/>
              </a:ext>
            </a:extLst>
          </p:cNvPr>
          <p:cNvSpPr>
            <a:spLocks noGrp="1"/>
          </p:cNvSpPr>
          <p:nvPr/>
        </p:nvSpPr>
        <p:spPr>
          <a:xfrm>
            <a:off x="8096250" y="3752850"/>
            <a:ext cx="35052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75B5D75C-EE5B-4C2B-A367-A908FACE5040}"/>
              </a:ext>
            </a:extLst>
          </p:cNvPr>
          <p:cNvSpPr>
            <a:spLocks noGrp="1"/>
          </p:cNvSpPr>
          <p:nvPr/>
        </p:nvSpPr>
        <p:spPr>
          <a:xfrm>
            <a:off x="8286750" y="39624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Lectura técnica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45E2A00A-BA5C-44B4-A36D-85B500F0CA80}"/>
              </a:ext>
            </a:extLst>
          </p:cNvPr>
          <p:cNvSpPr>
            <a:spLocks noGrp="1"/>
          </p:cNvSpPr>
          <p:nvPr/>
        </p:nvSpPr>
        <p:spPr>
          <a:xfrm>
            <a:off x="8286750" y="43434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3EA84D02-FB67-420E-A52E-EB3FA263067F}"/>
              </a:ext>
            </a:extLst>
          </p:cNvPr>
          <p:cNvSpPr>
            <a:spLocks noGrp="1"/>
          </p:cNvSpPr>
          <p:nvPr/>
        </p:nvSpPr>
        <p:spPr>
          <a:xfrm>
            <a:off x="8477250" y="4352925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Regularización completa: BatchNorm, Dropout, Early Stopping, ReduceLROnPlateau y class_weight.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B5C7B056-560F-4FD6-8437-0B26706FE84B}"/>
              </a:ext>
            </a:extLst>
          </p:cNvPr>
          <p:cNvSpPr>
            <a:spLocks noGrp="1"/>
          </p:cNvSpPr>
          <p:nvPr/>
        </p:nvSpPr>
        <p:spPr>
          <a:xfrm>
            <a:off x="8286750" y="47244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0B54368C-7713-437C-BFAC-5F36FC1DFDEC}"/>
              </a:ext>
            </a:extLst>
          </p:cNvPr>
          <p:cNvSpPr>
            <a:spLocks noGrp="1"/>
          </p:cNvSpPr>
          <p:nvPr/>
        </p:nvSpPr>
        <p:spPr>
          <a:xfrm>
            <a:off x="8477250" y="4733925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Recall MLP ligeramente superior, útil como referencia avanzada.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D5F77CA2-9C32-467B-9384-C0E062E757D2}"/>
              </a:ext>
            </a:extLst>
          </p:cNvPr>
          <p:cNvSpPr>
            <a:spLocks noGrp="1"/>
          </p:cNvSpPr>
          <p:nvPr/>
        </p:nvSpPr>
        <p:spPr>
          <a:xfrm>
            <a:off x="8286750" y="51054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8D698334-C66F-4B9F-B3CF-81CDD87727AB}"/>
              </a:ext>
            </a:extLst>
          </p:cNvPr>
          <p:cNvSpPr>
            <a:spLocks noGrp="1"/>
          </p:cNvSpPr>
          <p:nvPr/>
        </p:nvSpPr>
        <p:spPr>
          <a:xfrm>
            <a:off x="8477250" y="5114925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No supera al ganador en F1 ni en precisión; no es la opción final.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4570471D-88AC-410B-8BD6-DF7665C71F7C}"/>
              </a:ext>
            </a:extLst>
          </p:cNvPr>
          <p:cNvSpPr>
            <a:spLocks noGrp="1"/>
          </p:cNvSpPr>
          <p:nvPr/>
        </p:nvSpPr>
        <p:spPr>
          <a:xfrm>
            <a:off x="552450" y="6191250"/>
            <a:ext cx="1076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Conclusión: la MLP valida el enfoque, pero XGBoost conserva el mejor balance operativo.</a:t>
            </a:r>
          </a:p>
        </p:txBody>
      </p:sp>
    </p:spTree>
    <p:extLst>
      <p:ext uri="{BB962C8B-B14F-4D97-AF65-F5344CB8AC3E}">
        <p14:creationId xmlns:p14="http://schemas.microsoft.com/office/powerpoint/2010/main" val="524731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ángulo 58">
            <a:extLst>
              <a:ext uri="{FF2B5EF4-FFF2-40B4-BE49-F238E27FC236}">
                <a16:creationId xmlns:a16="http://schemas.microsoft.com/office/drawing/2014/main" id="{8C735ED6-89B4-4480-ABD1-5B6100AC2BAB}"/>
              </a:ext>
            </a:extLst>
          </p:cNvPr>
          <p:cNvSpPr>
            <a:spLocks noGrp="1"/>
          </p:cNvSpPr>
          <p:nvPr/>
        </p:nvSpPr>
        <p:spPr>
          <a:xfrm>
            <a:off x="37475" y="-937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B835B5-6867-4927-9FAB-5AE0FFED85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521499-4319-4B2C-B9C7-96801BD98ACF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BC8E20-ADD2-4932-91D8-E15D6AD7041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COMPARATIVA GLOBAL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1865C14-5DD9-482F-9CB4-2A0ABE63C498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9334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925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La decisión no es una métrica aislada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1307F15-D9A7-4AB4-992A-6A00AA4A08F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El ranking final combina precisión, recall, F1, AUC-ROC y AUC-PR.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509EEFF-B5D7-4A99-847C-B172148B89FB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552450" cy="190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8217588-001A-4DD8-8F25-CC83322254AA}"/>
              </a:ext>
            </a:extLst>
          </p:cNvPr>
          <p:cNvSpPr>
            <a:spLocks noGrp="1"/>
          </p:cNvSpPr>
          <p:nvPr/>
        </p:nvSpPr>
        <p:spPr>
          <a:xfrm>
            <a:off x="11239500" y="12763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7A1F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7A1F2B"/>
                </a:solidFill>
                <a:latin typeface="Georgia"/>
                <a:ea typeface="Georgia"/>
                <a:cs typeface="Georgia"/>
              </a:rPr>
              <a:t>4/5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FDBDA9-56FD-425D-9264-F4E41572710C}"/>
              </a:ext>
            </a:extLst>
          </p:cNvPr>
          <p:cNvSpPr>
            <a:spLocks noGrp="1"/>
          </p:cNvSpPr>
          <p:nvPr/>
        </p:nvSpPr>
        <p:spPr>
          <a:xfrm>
            <a:off x="11049000" y="1543050"/>
            <a:ext cx="552450" cy="9525"/>
          </a:xfrm>
          <a:prstGeom prst="rect">
            <a:avLst/>
          </a:prstGeom>
          <a:solidFill>
            <a:srgbClr val="BDB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DCD4510-1D4A-41E5-A77C-654997E70045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495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Predicción de diagnóstico de cáncer · comparativa ML vs MLP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84F0523-61FF-4BAB-93CB-A9B4505FB159}"/>
              </a:ext>
            </a:extLst>
          </p:cNvPr>
          <p:cNvSpPr>
            <a:spLocks noGrp="1"/>
          </p:cNvSpPr>
          <p:nvPr/>
        </p:nvSpPr>
        <p:spPr>
          <a:xfrm>
            <a:off x="8458200" y="6515100"/>
            <a:ext cx="3143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seed 42 · umbrales seleccionados en 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9C2C136-FA99-4D8D-8EBD-C70D610FE990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Métricas comparadas</a:t>
            </a:r>
          </a:p>
        </p:txBody>
      </p:sp>
      <p:pic>
        <p:nvPicPr>
          <p:cNvPr id="71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07079" y="2324100"/>
            <a:ext cx="5148792" cy="264795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F7D54E7D-5352-41C1-B6E4-8E583CC26338}"/>
              </a:ext>
            </a:extLst>
          </p:cNvPr>
          <p:cNvSpPr>
            <a:spLocks noGrp="1"/>
          </p:cNvSpPr>
          <p:nvPr/>
        </p:nvSpPr>
        <p:spPr>
          <a:xfrm>
            <a:off x="7825489" y="2038350"/>
            <a:ext cx="762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ROC</a:t>
            </a:r>
          </a:p>
        </p:txBody>
      </p:sp>
      <p:pic>
        <p:nvPicPr>
          <p:cNvPr id="73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33437" y="2515961"/>
            <a:ext cx="2546105" cy="1891393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8EA17F9A-BBA9-4216-8307-DC1CEF5F876F}"/>
              </a:ext>
            </a:extLst>
          </p:cNvPr>
          <p:cNvSpPr>
            <a:spLocks noGrp="1"/>
          </p:cNvSpPr>
          <p:nvPr/>
        </p:nvSpPr>
        <p:spPr>
          <a:xfrm>
            <a:off x="9982200" y="20383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Precisión-Recall</a:t>
            </a:r>
          </a:p>
        </p:txBody>
      </p:sp>
      <p:pic>
        <p:nvPicPr>
          <p:cNvPr id="75" name="Imagen 1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684728" y="2618014"/>
            <a:ext cx="2183422" cy="162197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2DD38DB4-1EB8-4203-B9ED-7D1F44C0831F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5543550" cy="12382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0C191EA-77EF-4FB6-9630-3209A9ADDAE8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55435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5B5974D-B374-4411-90C5-FB2E5772507F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Ranking final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3846A03-AD53-404E-9D59-F24D78DCF698}"/>
              </a:ext>
            </a:extLst>
          </p:cNvPr>
          <p:cNvSpPr>
            <a:spLocks noGrp="1"/>
          </p:cNvSpPr>
          <p:nvPr/>
        </p:nvSpPr>
        <p:spPr>
          <a:xfrm>
            <a:off x="742950" y="5753100"/>
            <a:ext cx="5162550" cy="190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F428CA7-AB8C-4DB1-B39A-2C04AC9CA0AE}"/>
              </a:ext>
            </a:extLst>
          </p:cNvPr>
          <p:cNvSpPr>
            <a:spLocks noGrp="1"/>
          </p:cNvSpPr>
          <p:nvPr/>
        </p:nvSpPr>
        <p:spPr>
          <a:xfrm>
            <a:off x="742950" y="5981700"/>
            <a:ext cx="5162550" cy="9525"/>
          </a:xfrm>
          <a:prstGeom prst="rect">
            <a:avLst/>
          </a:prstGeom>
          <a:solidFill>
            <a:srgbClr val="8077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409A146-A52E-4175-9A54-539DC7A22920}"/>
              </a:ext>
            </a:extLst>
          </p:cNvPr>
          <p:cNvSpPr>
            <a:spLocks noGrp="1"/>
          </p:cNvSpPr>
          <p:nvPr/>
        </p:nvSpPr>
        <p:spPr>
          <a:xfrm>
            <a:off x="742950" y="5838825"/>
            <a:ext cx="10001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Modelo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C0F7A72-965B-4462-ABAC-AB73636298BE}"/>
              </a:ext>
            </a:extLst>
          </p:cNvPr>
          <p:cNvSpPr>
            <a:spLocks noGrp="1"/>
          </p:cNvSpPr>
          <p:nvPr/>
        </p:nvSpPr>
        <p:spPr>
          <a:xfrm>
            <a:off x="2028825" y="5838825"/>
            <a:ext cx="666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Tipo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E7BF4743-DDE4-4D9A-8C8A-11B7D1DFD315}"/>
              </a:ext>
            </a:extLst>
          </p:cNvPr>
          <p:cNvSpPr>
            <a:spLocks noGrp="1"/>
          </p:cNvSpPr>
          <p:nvPr/>
        </p:nvSpPr>
        <p:spPr>
          <a:xfrm>
            <a:off x="3076575" y="5838825"/>
            <a:ext cx="495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Prec.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87CC00F-409E-4B28-AEF9-B53471EBD55B}"/>
              </a:ext>
            </a:extLst>
          </p:cNvPr>
          <p:cNvSpPr>
            <a:spLocks noGrp="1"/>
          </p:cNvSpPr>
          <p:nvPr/>
        </p:nvSpPr>
        <p:spPr>
          <a:xfrm>
            <a:off x="3790950" y="5838825"/>
            <a:ext cx="495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Recall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64FBDA6-5FC3-42E1-95C1-069A487F57B5}"/>
              </a:ext>
            </a:extLst>
          </p:cNvPr>
          <p:cNvSpPr>
            <a:spLocks noGrp="1"/>
          </p:cNvSpPr>
          <p:nvPr/>
        </p:nvSpPr>
        <p:spPr>
          <a:xfrm>
            <a:off x="4505325" y="5838825"/>
            <a:ext cx="438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F1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9695C88-9CD1-4A48-B604-CA8DFD62DF1E}"/>
              </a:ext>
            </a:extLst>
          </p:cNvPr>
          <p:cNvSpPr>
            <a:spLocks noGrp="1"/>
          </p:cNvSpPr>
          <p:nvPr/>
        </p:nvSpPr>
        <p:spPr>
          <a:xfrm>
            <a:off x="5219700" y="5838825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55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AUC-PR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6592DEE-90AA-4FA7-808B-7F300CF0BD32}"/>
              </a:ext>
            </a:extLst>
          </p:cNvPr>
          <p:cNvSpPr>
            <a:spLocks noGrp="1"/>
          </p:cNvSpPr>
          <p:nvPr/>
        </p:nvSpPr>
        <p:spPr>
          <a:xfrm>
            <a:off x="742950" y="6124575"/>
            <a:ext cx="51625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6FF836C-0957-4B3D-9965-FD22AF5005B7}"/>
              </a:ext>
            </a:extLst>
          </p:cNvPr>
          <p:cNvSpPr>
            <a:spLocks noGrp="1"/>
          </p:cNvSpPr>
          <p:nvPr/>
        </p:nvSpPr>
        <p:spPr>
          <a:xfrm>
            <a:off x="742950" y="6057900"/>
            <a:ext cx="1000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BAC3524-721E-4936-B93C-8928DC56CE86}"/>
              </a:ext>
            </a:extLst>
          </p:cNvPr>
          <p:cNvSpPr>
            <a:spLocks noGrp="1"/>
          </p:cNvSpPr>
          <p:nvPr/>
        </p:nvSpPr>
        <p:spPr>
          <a:xfrm>
            <a:off x="2028825" y="6057900"/>
            <a:ext cx="666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ML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915ED5A-6DCD-4B9C-A606-BA23FAF64B07}"/>
              </a:ext>
            </a:extLst>
          </p:cNvPr>
          <p:cNvSpPr>
            <a:spLocks noGrp="1"/>
          </p:cNvSpPr>
          <p:nvPr/>
        </p:nvSpPr>
        <p:spPr>
          <a:xfrm>
            <a:off x="3076575" y="605790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0,578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A4B9A22-8863-4B13-A5CB-2CF22BF47DA5}"/>
              </a:ext>
            </a:extLst>
          </p:cNvPr>
          <p:cNvSpPr>
            <a:spLocks noGrp="1"/>
          </p:cNvSpPr>
          <p:nvPr/>
        </p:nvSpPr>
        <p:spPr>
          <a:xfrm>
            <a:off x="3790950" y="605790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0,591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1634A0F-8B13-45C0-90CD-F91CBFCB6508}"/>
              </a:ext>
            </a:extLst>
          </p:cNvPr>
          <p:cNvSpPr>
            <a:spLocks noGrp="1"/>
          </p:cNvSpPr>
          <p:nvPr/>
        </p:nvSpPr>
        <p:spPr>
          <a:xfrm>
            <a:off x="4505325" y="6057900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EFA5FE1D-DFDD-4DC5-8D97-9D904B4F91F6}"/>
              </a:ext>
            </a:extLst>
          </p:cNvPr>
          <p:cNvSpPr>
            <a:spLocks noGrp="1"/>
          </p:cNvSpPr>
          <p:nvPr/>
        </p:nvSpPr>
        <p:spPr>
          <a:xfrm>
            <a:off x="5162550" y="5857875"/>
            <a:ext cx="5524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0,624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E291AE1-C9E6-4521-AA23-ACE012484945}"/>
              </a:ext>
            </a:extLst>
          </p:cNvPr>
          <p:cNvSpPr>
            <a:spLocks noGrp="1"/>
          </p:cNvSpPr>
          <p:nvPr/>
        </p:nvSpPr>
        <p:spPr>
          <a:xfrm>
            <a:off x="742950" y="6267450"/>
            <a:ext cx="51625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9544303A-E4E3-4FDB-9F16-8109833F0589}"/>
              </a:ext>
            </a:extLst>
          </p:cNvPr>
          <p:cNvSpPr>
            <a:spLocks noGrp="1"/>
          </p:cNvSpPr>
          <p:nvPr/>
        </p:nvSpPr>
        <p:spPr>
          <a:xfrm>
            <a:off x="742950" y="6200775"/>
            <a:ext cx="1000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SoftVoting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E6CDE362-4C18-4253-868F-140402B381E2}"/>
              </a:ext>
            </a:extLst>
          </p:cNvPr>
          <p:cNvSpPr>
            <a:spLocks noGrp="1"/>
          </p:cNvSpPr>
          <p:nvPr/>
        </p:nvSpPr>
        <p:spPr>
          <a:xfrm>
            <a:off x="2028825" y="6200775"/>
            <a:ext cx="666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Ensemble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721FB244-1F3A-4B85-A1CF-52F041D36C50}"/>
              </a:ext>
            </a:extLst>
          </p:cNvPr>
          <p:cNvSpPr>
            <a:spLocks noGrp="1"/>
          </p:cNvSpPr>
          <p:nvPr/>
        </p:nvSpPr>
        <p:spPr>
          <a:xfrm>
            <a:off x="3076575" y="6200775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0,549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7BBCD14-AB59-4F4E-871F-157B72A1EDC3}"/>
              </a:ext>
            </a:extLst>
          </p:cNvPr>
          <p:cNvSpPr>
            <a:spLocks noGrp="1"/>
          </p:cNvSpPr>
          <p:nvPr/>
        </p:nvSpPr>
        <p:spPr>
          <a:xfrm>
            <a:off x="3790950" y="6200775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0,625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60B16FAE-50FF-4600-923B-3791FFB9F708}"/>
              </a:ext>
            </a:extLst>
          </p:cNvPr>
          <p:cNvSpPr>
            <a:spLocks noGrp="1"/>
          </p:cNvSpPr>
          <p:nvPr/>
        </p:nvSpPr>
        <p:spPr>
          <a:xfrm>
            <a:off x="4505325" y="6200775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0,584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1AF426D-C195-4174-A6A3-7B0BBCB6C4DA}"/>
              </a:ext>
            </a:extLst>
          </p:cNvPr>
          <p:cNvSpPr>
            <a:spLocks noGrp="1"/>
          </p:cNvSpPr>
          <p:nvPr/>
        </p:nvSpPr>
        <p:spPr>
          <a:xfrm>
            <a:off x="5219700" y="6200775"/>
            <a:ext cx="5524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0,622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EC32500-4CDC-48D5-9980-6EB7254E3C65}"/>
              </a:ext>
            </a:extLst>
          </p:cNvPr>
          <p:cNvSpPr>
            <a:spLocks noGrp="1"/>
          </p:cNvSpPr>
          <p:nvPr/>
        </p:nvSpPr>
        <p:spPr>
          <a:xfrm>
            <a:off x="742950" y="6410325"/>
            <a:ext cx="516255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2455E13B-D4DA-40F2-9984-3F4E59DF8186}"/>
              </a:ext>
            </a:extLst>
          </p:cNvPr>
          <p:cNvSpPr>
            <a:spLocks noGrp="1"/>
          </p:cNvSpPr>
          <p:nvPr/>
        </p:nvSpPr>
        <p:spPr>
          <a:xfrm>
            <a:off x="742950" y="6343650"/>
            <a:ext cx="100012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XGB F1Bal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311A6F6-2E1A-49AF-B180-B1771A0F9135}"/>
              </a:ext>
            </a:extLst>
          </p:cNvPr>
          <p:cNvSpPr>
            <a:spLocks noGrp="1"/>
          </p:cNvSpPr>
          <p:nvPr/>
        </p:nvSpPr>
        <p:spPr>
          <a:xfrm>
            <a:off x="2028825" y="6343650"/>
            <a:ext cx="6667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ML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E45C79F1-6E5E-41A0-B2D5-8DAF1D8A80F3}"/>
              </a:ext>
            </a:extLst>
          </p:cNvPr>
          <p:cNvSpPr>
            <a:spLocks noGrp="1"/>
          </p:cNvSpPr>
          <p:nvPr/>
        </p:nvSpPr>
        <p:spPr>
          <a:xfrm>
            <a:off x="3076575" y="634365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0,578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C9D40E90-A809-446F-8064-BD56414203F1}"/>
              </a:ext>
            </a:extLst>
          </p:cNvPr>
          <p:cNvSpPr>
            <a:spLocks noGrp="1"/>
          </p:cNvSpPr>
          <p:nvPr/>
        </p:nvSpPr>
        <p:spPr>
          <a:xfrm>
            <a:off x="3790950" y="6343650"/>
            <a:ext cx="4953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0,586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C575F5E-A448-4B32-9CA5-29F74F945AAF}"/>
              </a:ext>
            </a:extLst>
          </p:cNvPr>
          <p:cNvSpPr>
            <a:spLocks noGrp="1"/>
          </p:cNvSpPr>
          <p:nvPr/>
        </p:nvSpPr>
        <p:spPr>
          <a:xfrm>
            <a:off x="4505325" y="6343650"/>
            <a:ext cx="438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0,582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97C3E59-7C82-40EC-A208-8A23F29040B0}"/>
              </a:ext>
            </a:extLst>
          </p:cNvPr>
          <p:cNvSpPr>
            <a:spLocks noGrp="1"/>
          </p:cNvSpPr>
          <p:nvPr/>
        </p:nvSpPr>
        <p:spPr>
          <a:xfrm>
            <a:off x="5219700" y="6343650"/>
            <a:ext cx="5524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0,623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20F2C6D7-D343-4C72-BAC1-DBDC79318DE1}"/>
              </a:ext>
            </a:extLst>
          </p:cNvPr>
          <p:cNvSpPr>
            <a:spLocks noGrp="1"/>
          </p:cNvSpPr>
          <p:nvPr/>
        </p:nvSpPr>
        <p:spPr>
          <a:xfrm>
            <a:off x="6534150" y="5219700"/>
            <a:ext cx="5067300" cy="106680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DB2B9AA-3CCE-4E04-A40E-35F8A9E0EC2D}"/>
              </a:ext>
            </a:extLst>
          </p:cNvPr>
          <p:cNvSpPr>
            <a:spLocks noGrp="1"/>
          </p:cNvSpPr>
          <p:nvPr/>
        </p:nvSpPr>
        <p:spPr>
          <a:xfrm>
            <a:off x="6534150" y="5219700"/>
            <a:ext cx="50673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B70DF04-29B1-4AAB-829C-1D217DC1780F}"/>
              </a:ext>
            </a:extLst>
          </p:cNvPr>
          <p:cNvSpPr>
            <a:spLocks noGrp="1"/>
          </p:cNvSpPr>
          <p:nvPr/>
        </p:nvSpPr>
        <p:spPr>
          <a:xfrm>
            <a:off x="6724650" y="54292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Lectura global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319F2E5F-65C0-4818-A28B-CDE88729ED94}"/>
              </a:ext>
            </a:extLst>
          </p:cNvPr>
          <p:cNvSpPr>
            <a:spLocks noGrp="1"/>
          </p:cNvSpPr>
          <p:nvPr/>
        </p:nvSpPr>
        <p:spPr>
          <a:xfrm>
            <a:off x="6724650" y="57721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F57423E-9356-41A5-A7F0-A54328EB92D3}"/>
              </a:ext>
            </a:extLst>
          </p:cNvPr>
          <p:cNvSpPr>
            <a:spLocks noGrp="1"/>
          </p:cNvSpPr>
          <p:nvPr/>
        </p:nvSpPr>
        <p:spPr>
          <a:xfrm>
            <a:off x="6915150" y="5781675"/>
            <a:ext cx="4286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8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Los boosting dominan F1 y AUC con diferencias estrechas.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BFE73A5A-07F8-487E-9472-5E4C5227FBDB}"/>
              </a:ext>
            </a:extLst>
          </p:cNvPr>
          <p:cNvSpPr>
            <a:spLocks noGrp="1"/>
          </p:cNvSpPr>
          <p:nvPr/>
        </p:nvSpPr>
        <p:spPr>
          <a:xfrm>
            <a:off x="6724650" y="59340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438D068-27A0-41AD-8195-951D3EFB7DEB}"/>
              </a:ext>
            </a:extLst>
          </p:cNvPr>
          <p:cNvSpPr>
            <a:spLocks noGrp="1"/>
          </p:cNvSpPr>
          <p:nvPr/>
        </p:nvSpPr>
        <p:spPr>
          <a:xfrm>
            <a:off x="6915150" y="5943600"/>
            <a:ext cx="4286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8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SoftVoting detecta más positivos, pero paga con más falsos positivos.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8EDDAB7-D1E1-4BAE-9406-CCFB635A80C3}"/>
              </a:ext>
            </a:extLst>
          </p:cNvPr>
          <p:cNvSpPr>
            <a:spLocks noGrp="1"/>
          </p:cNvSpPr>
          <p:nvPr/>
        </p:nvSpPr>
        <p:spPr>
          <a:xfrm>
            <a:off x="6724650" y="60960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92D3579D-B3B4-470C-B304-0E8848A63B00}"/>
              </a:ext>
            </a:extLst>
          </p:cNvPr>
          <p:cNvSpPr>
            <a:spLocks noGrp="1"/>
          </p:cNvSpPr>
          <p:nvPr/>
        </p:nvSpPr>
        <p:spPr>
          <a:xfrm>
            <a:off x="6915150" y="6105525"/>
            <a:ext cx="42862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8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698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La MLP queda como referencia avanzada, no como opción final.</a:t>
            </a:r>
          </a:p>
        </p:txBody>
      </p:sp>
    </p:spTree>
    <p:extLst>
      <p:ext uri="{BB962C8B-B14F-4D97-AF65-F5344CB8AC3E}">
        <p14:creationId xmlns:p14="http://schemas.microsoft.com/office/powerpoint/2010/main" val="60618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ángulo 87">
            <a:extLst>
              <a:ext uri="{FF2B5EF4-FFF2-40B4-BE49-F238E27FC236}">
                <a16:creationId xmlns:a16="http://schemas.microsoft.com/office/drawing/2014/main" id="{E791950A-73D2-4B53-9D47-553B4A0CE277}"/>
              </a:ext>
            </a:extLst>
          </p:cNvPr>
          <p:cNvSpPr>
            <a:spLocks noGrp="1"/>
          </p:cNvSpPr>
          <p:nvPr/>
        </p:nvSpPr>
        <p:spPr>
          <a:xfrm>
            <a:off x="65376" y="0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02C0A9A-D036-458D-944D-54600451DF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DB6D70-EB07-4E78-A9BE-299077A96C12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08FC956-5952-402D-BE9D-BEBCD6FC3A21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VIABILIDAD Y DECISIÓN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DE021B1-2A2D-4DDA-A830-CB40DA8EB9D1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9334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925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2925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Viabilidad sí; diagnóstico autónomo no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E52D4B-D5A3-4ADD-AE73-C4251DA6919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99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La recomendación convierte el ranking en una estrategia prudente de cribado clínico.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0A019BD-4622-4B9F-AE64-C0224CC240EF}"/>
              </a:ext>
            </a:extLst>
          </p:cNvPr>
          <p:cNvSpPr>
            <a:spLocks noGrp="1"/>
          </p:cNvSpPr>
          <p:nvPr/>
        </p:nvSpPr>
        <p:spPr>
          <a:xfrm>
            <a:off x="11049000" y="1123950"/>
            <a:ext cx="552450" cy="190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BBF8118-5415-4473-9213-4254E37B7B52}"/>
              </a:ext>
            </a:extLst>
          </p:cNvPr>
          <p:cNvSpPr>
            <a:spLocks noGrp="1"/>
          </p:cNvSpPr>
          <p:nvPr/>
        </p:nvSpPr>
        <p:spPr>
          <a:xfrm>
            <a:off x="11239500" y="12763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1">
                <a:solidFill>
                  <a:srgbClr val="7A1F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7A1F2B"/>
                </a:solidFill>
                <a:latin typeface="Georgia"/>
                <a:ea typeface="Georgia"/>
                <a:cs typeface="Georgia"/>
              </a:rPr>
              <a:t>5/5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E96F3AE-11B5-4E9E-9905-1876BEE00D24}"/>
              </a:ext>
            </a:extLst>
          </p:cNvPr>
          <p:cNvSpPr>
            <a:spLocks noGrp="1"/>
          </p:cNvSpPr>
          <p:nvPr/>
        </p:nvSpPr>
        <p:spPr>
          <a:xfrm>
            <a:off x="11049000" y="1543050"/>
            <a:ext cx="552450" cy="9525"/>
          </a:xfrm>
          <a:prstGeom prst="rect">
            <a:avLst/>
          </a:prstGeom>
          <a:solidFill>
            <a:srgbClr val="BDB5A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C3C49EE-A3BD-41C0-BB81-754C7F7FE309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495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Predicción de diagnóstico de cáncer · comparativa ML vs MLP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956CF98-F14C-42ED-81C6-2E4101DE4287}"/>
              </a:ext>
            </a:extLst>
          </p:cNvPr>
          <p:cNvSpPr>
            <a:spLocks noGrp="1"/>
          </p:cNvSpPr>
          <p:nvPr/>
        </p:nvSpPr>
        <p:spPr>
          <a:xfrm>
            <a:off x="8458200" y="6515100"/>
            <a:ext cx="3143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seed 42 · umbrales seleccionados en validación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00C24E0-97C2-48B5-B2BC-6F29467A6E10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11049000" cy="666750"/>
          </a:xfrm>
          <a:prstGeom prst="rect">
            <a:avLst/>
          </a:prstGeom>
          <a:solidFill>
            <a:srgbClr val="E8D9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CF341D5-E093-4E6C-9BAE-A4CC41F0F969}"/>
              </a:ext>
            </a:extLst>
          </p:cNvPr>
          <p:cNvSpPr>
            <a:spLocks noGrp="1"/>
          </p:cNvSpPr>
          <p:nvPr/>
        </p:nvSpPr>
        <p:spPr>
          <a:xfrm>
            <a:off x="552450" y="1924050"/>
            <a:ext cx="38100" cy="6667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43599D3-02F0-4487-9E1A-122022778A43}"/>
              </a:ext>
            </a:extLst>
          </p:cNvPr>
          <p:cNvSpPr>
            <a:spLocks noGrp="1"/>
          </p:cNvSpPr>
          <p:nvPr/>
        </p:nvSpPr>
        <p:spPr>
          <a:xfrm>
            <a:off x="723900" y="2057400"/>
            <a:ext cx="10725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4B192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B1921"/>
                </a:solidFill>
                <a:latin typeface="Avenir Next"/>
                <a:ea typeface="Avenir Next"/>
                <a:cs typeface="Avenir Next"/>
              </a:rPr>
              <a:t>Recomendación final: implantar XGBoost AUC como baseline operativo limpio de cribado experimental y mantener SoftVoting como alternativa cuando pese más la sensibilidad.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EDB6A0E-540A-4641-9523-9F2F6C87B23B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086350" cy="24574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E882921-F8F0-41B9-B125-11B297D9C0E8}"/>
              </a:ext>
            </a:extLst>
          </p:cNvPr>
          <p:cNvSpPr>
            <a:spLocks noGrp="1"/>
          </p:cNvSpPr>
          <p:nvPr/>
        </p:nvSpPr>
        <p:spPr>
          <a:xfrm>
            <a:off x="552450" y="2895600"/>
            <a:ext cx="508635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69167C7-C672-4611-A60E-EBD4EA40A770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Regla propuesta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E23D433-3086-42AC-926A-45BC112E6D6F}"/>
              </a:ext>
            </a:extLst>
          </p:cNvPr>
          <p:cNvSpPr>
            <a:spLocks noGrp="1"/>
          </p:cNvSpPr>
          <p:nvPr/>
        </p:nvSpPr>
        <p:spPr>
          <a:xfrm>
            <a:off x="742950" y="35433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50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Score de riesgo previsto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8C06EDD-8ECA-4AB7-94D3-65746ECEC8C7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1941386" cy="285750"/>
          </a:xfrm>
          <a:prstGeom prst="rect">
            <a:avLst/>
          </a:prstGeom>
          <a:solidFill>
            <a:srgbClr val="D9D3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56F5827-77D5-4566-B0B5-8DC4900C8F78}"/>
              </a:ext>
            </a:extLst>
          </p:cNvPr>
          <p:cNvSpPr>
            <a:spLocks noGrp="1"/>
          </p:cNvSpPr>
          <p:nvPr/>
        </p:nvSpPr>
        <p:spPr>
          <a:xfrm>
            <a:off x="2684336" y="3886200"/>
            <a:ext cx="1038416" cy="285750"/>
          </a:xfrm>
          <a:prstGeom prst="rect">
            <a:avLst/>
          </a:prstGeom>
          <a:solidFill>
            <a:srgbClr val="EFE3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4499776-57C4-4ED5-A7CB-85A1C8177B2E}"/>
              </a:ext>
            </a:extLst>
          </p:cNvPr>
          <p:cNvSpPr>
            <a:spLocks noGrp="1"/>
          </p:cNvSpPr>
          <p:nvPr/>
        </p:nvSpPr>
        <p:spPr>
          <a:xfrm>
            <a:off x="3722751" y="3886200"/>
            <a:ext cx="1535049" cy="285750"/>
          </a:xfrm>
          <a:prstGeom prst="rect">
            <a:avLst/>
          </a:prstGeom>
          <a:solidFill>
            <a:srgbClr val="E8D9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C3C1996-1A9E-4401-B1BA-FCE54E57FA4C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9525" cy="4381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D370271-3A7D-46B4-A2B9-C747FC5D4FA2}"/>
              </a:ext>
            </a:extLst>
          </p:cNvPr>
          <p:cNvSpPr>
            <a:spLocks noGrp="1"/>
          </p:cNvSpPr>
          <p:nvPr/>
        </p:nvSpPr>
        <p:spPr>
          <a:xfrm>
            <a:off x="552450" y="42862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0,00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694FA9D-2102-4621-BF80-9DEFD95EDB2B}"/>
              </a:ext>
            </a:extLst>
          </p:cNvPr>
          <p:cNvSpPr>
            <a:spLocks noGrp="1"/>
          </p:cNvSpPr>
          <p:nvPr/>
        </p:nvSpPr>
        <p:spPr>
          <a:xfrm>
            <a:off x="2684336" y="3810000"/>
            <a:ext cx="9525" cy="4381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4483935-14FF-4917-BCB8-835F1A0C3E2E}"/>
              </a:ext>
            </a:extLst>
          </p:cNvPr>
          <p:cNvSpPr>
            <a:spLocks noGrp="1"/>
          </p:cNvSpPr>
          <p:nvPr/>
        </p:nvSpPr>
        <p:spPr>
          <a:xfrm>
            <a:off x="2493836" y="42862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0,43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4A71454-16FA-4A01-903B-E7D7C49112FF}"/>
              </a:ext>
            </a:extLst>
          </p:cNvPr>
          <p:cNvSpPr>
            <a:spLocks noGrp="1"/>
          </p:cNvSpPr>
          <p:nvPr/>
        </p:nvSpPr>
        <p:spPr>
          <a:xfrm>
            <a:off x="3722751" y="3810000"/>
            <a:ext cx="9525" cy="4381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0B695EE-DD3F-4C7A-812B-0C6036F1F4E9}"/>
              </a:ext>
            </a:extLst>
          </p:cNvPr>
          <p:cNvSpPr>
            <a:spLocks noGrp="1"/>
          </p:cNvSpPr>
          <p:nvPr/>
        </p:nvSpPr>
        <p:spPr>
          <a:xfrm>
            <a:off x="3532251" y="42862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0,66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C6F0E30-E56F-4165-AEB0-5A2B3D13E512}"/>
              </a:ext>
            </a:extLst>
          </p:cNvPr>
          <p:cNvSpPr>
            <a:spLocks noGrp="1"/>
          </p:cNvSpPr>
          <p:nvPr/>
        </p:nvSpPr>
        <p:spPr>
          <a:xfrm>
            <a:off x="5257800" y="3810000"/>
            <a:ext cx="9525" cy="4381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36FF7DA-3D93-4B5F-B17C-27FEA881FE45}"/>
              </a:ext>
            </a:extLst>
          </p:cNvPr>
          <p:cNvSpPr>
            <a:spLocks noGrp="1"/>
          </p:cNvSpPr>
          <p:nvPr/>
        </p:nvSpPr>
        <p:spPr>
          <a:xfrm>
            <a:off x="5067300" y="428625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00" b="0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1,00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D528BFB-0C46-498D-A03F-8823CE219C73}"/>
              </a:ext>
            </a:extLst>
          </p:cNvPr>
          <p:cNvSpPr>
            <a:spLocks noGrp="1"/>
          </p:cNvSpPr>
          <p:nvPr/>
        </p:nvSpPr>
        <p:spPr>
          <a:xfrm>
            <a:off x="857250" y="3962400"/>
            <a:ext cx="1750886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3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bajo riesgo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D8F7C77-B13C-49D4-B703-FE38E6F9F7D8}"/>
              </a:ext>
            </a:extLst>
          </p:cNvPr>
          <p:cNvSpPr>
            <a:spLocks noGrp="1"/>
          </p:cNvSpPr>
          <p:nvPr/>
        </p:nvSpPr>
        <p:spPr>
          <a:xfrm>
            <a:off x="2798636" y="3962400"/>
            <a:ext cx="847916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38" b="1">
                <a:solidFill>
                  <a:srgbClr val="76511F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6511F"/>
                </a:solidFill>
                <a:latin typeface="Avenir Next"/>
                <a:ea typeface="Avenir Next"/>
                <a:cs typeface="Avenir Next"/>
              </a:rPr>
              <a:t>zona gris · revisión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0C0B15E-F4EF-4A33-9C6F-B95963D99766}"/>
              </a:ext>
            </a:extLst>
          </p:cNvPr>
          <p:cNvSpPr>
            <a:spLocks noGrp="1"/>
          </p:cNvSpPr>
          <p:nvPr/>
        </p:nvSpPr>
        <p:spPr>
          <a:xfrm>
            <a:off x="3837051" y="3962400"/>
            <a:ext cx="1344549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38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alto riesgo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9D8439D-CEE6-496C-90F4-8FFCF9AA83B3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73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0E898EE-DA46-42F4-A4B6-E2058D312C1F}"/>
              </a:ext>
            </a:extLst>
          </p:cNvPr>
          <p:cNvSpPr>
            <a:spLocks noGrp="1"/>
          </p:cNvSpPr>
          <p:nvPr/>
        </p:nvSpPr>
        <p:spPr>
          <a:xfrm>
            <a:off x="933450" y="4657725"/>
            <a:ext cx="432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&gt;= 0,66: alto riesgo, buena precisión.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4E5B382-93F9-4FC7-B7B3-7D8545C26275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73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2EA0A4A-E4BE-40B1-8D10-543D661B7C51}"/>
              </a:ext>
            </a:extLst>
          </p:cNvPr>
          <p:cNvSpPr>
            <a:spLocks noGrp="1"/>
          </p:cNvSpPr>
          <p:nvPr/>
        </p:nvSpPr>
        <p:spPr>
          <a:xfrm>
            <a:off x="933450" y="4886325"/>
            <a:ext cx="432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0,43 - 0,66: zona gris, revisión clínica.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C987A7C-3442-4D63-9264-B0FDF49E5F47}"/>
              </a:ext>
            </a:extLst>
          </p:cNvPr>
          <p:cNvSpPr>
            <a:spLocks noGrp="1"/>
          </p:cNvSpPr>
          <p:nvPr/>
        </p:nvSpPr>
        <p:spPr>
          <a:xfrm>
            <a:off x="742950" y="510540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773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EC3D80E-05F0-4E43-942C-3510D95D1410}"/>
              </a:ext>
            </a:extLst>
          </p:cNvPr>
          <p:cNvSpPr>
            <a:spLocks noGrp="1"/>
          </p:cNvSpPr>
          <p:nvPr/>
        </p:nvSpPr>
        <p:spPr>
          <a:xfrm>
            <a:off x="933450" y="5114925"/>
            <a:ext cx="4324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73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&lt; 0,43: bajo riesgo, nunca descarte autónomo.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5F85D3BB-C8AE-4B1D-A6DC-044ECD354928}"/>
              </a:ext>
            </a:extLst>
          </p:cNvPr>
          <p:cNvSpPr>
            <a:spLocks noGrp="1"/>
          </p:cNvSpPr>
          <p:nvPr/>
        </p:nvSpPr>
        <p:spPr>
          <a:xfrm>
            <a:off x="5962650" y="2895600"/>
            <a:ext cx="5638800" cy="180975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9DFE06B7-78DE-4521-90BF-FE684C03E392}"/>
              </a:ext>
            </a:extLst>
          </p:cNvPr>
          <p:cNvSpPr>
            <a:spLocks noGrp="1"/>
          </p:cNvSpPr>
          <p:nvPr/>
        </p:nvSpPr>
        <p:spPr>
          <a:xfrm>
            <a:off x="5962650" y="2895600"/>
            <a:ext cx="56388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4B7B060-C989-4164-9E3F-C8D7B0D0E6C6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Decisión operativa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27998D9-E1D2-4A15-884E-611F998FB4D5}"/>
              </a:ext>
            </a:extLst>
          </p:cNvPr>
          <p:cNvSpPr>
            <a:spLocks noGrp="1"/>
          </p:cNvSpPr>
          <p:nvPr/>
        </p:nvSpPr>
        <p:spPr>
          <a:xfrm>
            <a:off x="6153150" y="3524250"/>
            <a:ext cx="5257800" cy="19050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487BB10-8C15-492D-8647-915CA09DD790}"/>
              </a:ext>
            </a:extLst>
          </p:cNvPr>
          <p:cNvSpPr>
            <a:spLocks noGrp="1"/>
          </p:cNvSpPr>
          <p:nvPr/>
        </p:nvSpPr>
        <p:spPr>
          <a:xfrm>
            <a:off x="6153150" y="3790950"/>
            <a:ext cx="5257800" cy="9525"/>
          </a:xfrm>
          <a:prstGeom prst="rect">
            <a:avLst/>
          </a:prstGeom>
          <a:solidFill>
            <a:srgbClr val="80776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66956440-FD14-43F0-99D8-753F7AC4E67E}"/>
              </a:ext>
            </a:extLst>
          </p:cNvPr>
          <p:cNvSpPr>
            <a:spLocks noGrp="1"/>
          </p:cNvSpPr>
          <p:nvPr/>
        </p:nvSpPr>
        <p:spPr>
          <a:xfrm>
            <a:off x="6153150" y="3609975"/>
            <a:ext cx="133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Decisión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971D790-0AEB-4DF9-AE9E-FE698ACE3A72}"/>
              </a:ext>
            </a:extLst>
          </p:cNvPr>
          <p:cNvSpPr>
            <a:spLocks noGrp="1"/>
          </p:cNvSpPr>
          <p:nvPr/>
        </p:nvSpPr>
        <p:spPr>
          <a:xfrm>
            <a:off x="8105775" y="3609975"/>
            <a:ext cx="952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Modelo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E0C331D9-6258-4AAC-9FD5-76BFE10BC172}"/>
              </a:ext>
            </a:extLst>
          </p:cNvPr>
          <p:cNvSpPr>
            <a:spLocks noGrp="1"/>
          </p:cNvSpPr>
          <p:nvPr/>
        </p:nvSpPr>
        <p:spPr>
          <a:xfrm>
            <a:off x="9344025" y="3609975"/>
            <a:ext cx="20478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Motivo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0FF22EFB-3360-4E1A-B4C6-0A8B1BC9DA7B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525780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EB436C8-5239-4814-889C-173D23ED277C}"/>
              </a:ext>
            </a:extLst>
          </p:cNvPr>
          <p:cNvSpPr>
            <a:spLocks noGrp="1"/>
          </p:cNvSpPr>
          <p:nvPr/>
        </p:nvSpPr>
        <p:spPr>
          <a:xfrm>
            <a:off x="6153150" y="386715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Ganador técnico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0D4044F3-6E5B-49AF-BF99-91256463D999}"/>
              </a:ext>
            </a:extLst>
          </p:cNvPr>
          <p:cNvSpPr>
            <a:spLocks noGrp="1"/>
          </p:cNvSpPr>
          <p:nvPr/>
        </p:nvSpPr>
        <p:spPr>
          <a:xfrm>
            <a:off x="8105775" y="3867150"/>
            <a:ext cx="952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XGB AUC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167020B4-54CF-4BFC-963F-5BF0BA0C59B5}"/>
              </a:ext>
            </a:extLst>
          </p:cNvPr>
          <p:cNvSpPr>
            <a:spLocks noGrp="1"/>
          </p:cNvSpPr>
          <p:nvPr/>
        </p:nvSpPr>
        <p:spPr>
          <a:xfrm>
            <a:off x="9344025" y="3867150"/>
            <a:ext cx="2047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F1=0,584; AUC=0,848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CCB18E8-EE91-41B1-A979-C2D6A58DD540}"/>
              </a:ext>
            </a:extLst>
          </p:cNvPr>
          <p:cNvSpPr>
            <a:spLocks noGrp="1"/>
          </p:cNvSpPr>
          <p:nvPr/>
        </p:nvSpPr>
        <p:spPr>
          <a:xfrm>
            <a:off x="6153150" y="4324350"/>
            <a:ext cx="525780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0EF41386-F0FA-4EB7-A8DC-0407CA5D44AB}"/>
              </a:ext>
            </a:extLst>
          </p:cNvPr>
          <p:cNvSpPr>
            <a:spLocks noGrp="1"/>
          </p:cNvSpPr>
          <p:nvPr/>
        </p:nvSpPr>
        <p:spPr>
          <a:xfrm>
            <a:off x="6153150" y="413385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Opción sensible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81767EF3-D726-44F3-BAC2-24B1BC232796}"/>
              </a:ext>
            </a:extLst>
          </p:cNvPr>
          <p:cNvSpPr>
            <a:spLocks noGrp="1"/>
          </p:cNvSpPr>
          <p:nvPr/>
        </p:nvSpPr>
        <p:spPr>
          <a:xfrm>
            <a:off x="8105775" y="4133850"/>
            <a:ext cx="952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SoftVoting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63C25ECB-4089-48E7-B403-28EC13F33D6A}"/>
              </a:ext>
            </a:extLst>
          </p:cNvPr>
          <p:cNvSpPr>
            <a:spLocks noGrp="1"/>
          </p:cNvSpPr>
          <p:nvPr/>
        </p:nvSpPr>
        <p:spPr>
          <a:xfrm>
            <a:off x="9344025" y="4133850"/>
            <a:ext cx="2047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Recall=0,625; más positivos detectados</a:t>
            </a: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88E4669-D0B5-49D7-9694-53048710AC63}"/>
              </a:ext>
            </a:extLst>
          </p:cNvPr>
          <p:cNvSpPr>
            <a:spLocks noGrp="1"/>
          </p:cNvSpPr>
          <p:nvPr/>
        </p:nvSpPr>
        <p:spPr>
          <a:xfrm>
            <a:off x="6153150" y="4591050"/>
            <a:ext cx="5257800" cy="9525"/>
          </a:xfrm>
          <a:prstGeom prst="rect">
            <a:avLst/>
          </a:prstGeom>
          <a:solidFill>
            <a:srgbClr val="E1D9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F48510A-E622-412D-8F15-93235D54B0DB}"/>
              </a:ext>
            </a:extLst>
          </p:cNvPr>
          <p:cNvSpPr>
            <a:spLocks noGrp="1"/>
          </p:cNvSpPr>
          <p:nvPr/>
        </p:nvSpPr>
        <p:spPr>
          <a:xfrm>
            <a:off x="6153150" y="4400550"/>
            <a:ext cx="1333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Uso recomendado</a:t>
            </a: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0990E8EE-34C0-4652-89DD-E28266C1569B}"/>
              </a:ext>
            </a:extLst>
          </p:cNvPr>
          <p:cNvSpPr>
            <a:spLocks noGrp="1"/>
          </p:cNvSpPr>
          <p:nvPr/>
        </p:nvSpPr>
        <p:spPr>
          <a:xfrm>
            <a:off x="8105775" y="4400550"/>
            <a:ext cx="952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2 zonas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BA569E90-CAE4-432F-9941-1FD77EA0E231}"/>
              </a:ext>
            </a:extLst>
          </p:cNvPr>
          <p:cNvSpPr>
            <a:spLocks noGrp="1"/>
          </p:cNvSpPr>
          <p:nvPr/>
        </p:nvSpPr>
        <p:spPr>
          <a:xfrm>
            <a:off x="9344025" y="4400550"/>
            <a:ext cx="2047875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534D46"/>
                </a:solidFill>
                <a:latin typeface="Avenir Next"/>
                <a:ea typeface="Avenir Next"/>
                <a:cs typeface="Avenir Next"/>
              </a:rPr>
              <a:t>alto riesgo + zona gris para revisión clínica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B1FC813-C3E8-440E-B1B1-1EC2547B112C}"/>
              </a:ext>
            </a:extLst>
          </p:cNvPr>
          <p:cNvSpPr>
            <a:spLocks noGrp="1"/>
          </p:cNvSpPr>
          <p:nvPr/>
        </p:nvSpPr>
        <p:spPr>
          <a:xfrm>
            <a:off x="6147175" y="4752976"/>
            <a:ext cx="112395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B401B228-6E99-4996-BD52-F87A7B9D676C}"/>
              </a:ext>
            </a:extLst>
          </p:cNvPr>
          <p:cNvSpPr>
            <a:spLocks noGrp="1"/>
          </p:cNvSpPr>
          <p:nvPr/>
        </p:nvSpPr>
        <p:spPr>
          <a:xfrm>
            <a:off x="6147175" y="4781551"/>
            <a:ext cx="112395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7E7AD263-216D-49CE-B99B-03253701FB45}"/>
              </a:ext>
            </a:extLst>
          </p:cNvPr>
          <p:cNvSpPr>
            <a:spLocks noGrp="1"/>
          </p:cNvSpPr>
          <p:nvPr/>
        </p:nvSpPr>
        <p:spPr>
          <a:xfrm>
            <a:off x="6223375" y="4905376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0,66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42C5279-8340-4B02-B9A3-BFAA270EEF3D}"/>
              </a:ext>
            </a:extLst>
          </p:cNvPr>
          <p:cNvSpPr>
            <a:spLocks noGrp="1"/>
          </p:cNvSpPr>
          <p:nvPr/>
        </p:nvSpPr>
        <p:spPr>
          <a:xfrm>
            <a:off x="6223375" y="5229226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UMBRAL ALTO RIESGO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919DA1A6-4E99-4A4A-BB98-1EB9E5C27CEA}"/>
              </a:ext>
            </a:extLst>
          </p:cNvPr>
          <p:cNvSpPr>
            <a:spLocks noGrp="1"/>
          </p:cNvSpPr>
          <p:nvPr/>
        </p:nvSpPr>
        <p:spPr>
          <a:xfrm>
            <a:off x="7480675" y="4752976"/>
            <a:ext cx="1123950" cy="28575"/>
          </a:xfrm>
          <a:prstGeom prst="rect">
            <a:avLst/>
          </a:prstGeom>
          <a:solidFill>
            <a:srgbClr val="A66B2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63F63B6B-D370-4415-B2B8-1DEC3FB30ED9}"/>
              </a:ext>
            </a:extLst>
          </p:cNvPr>
          <p:cNvSpPr>
            <a:spLocks noGrp="1"/>
          </p:cNvSpPr>
          <p:nvPr/>
        </p:nvSpPr>
        <p:spPr>
          <a:xfrm>
            <a:off x="7480675" y="4781551"/>
            <a:ext cx="112395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32327C09-7AA1-4FAB-A019-D74B79CD8A7D}"/>
              </a:ext>
            </a:extLst>
          </p:cNvPr>
          <p:cNvSpPr>
            <a:spLocks noGrp="1"/>
          </p:cNvSpPr>
          <p:nvPr/>
        </p:nvSpPr>
        <p:spPr>
          <a:xfrm>
            <a:off x="7556875" y="4905376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0,43</a:t>
            </a:r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44D4FE4-00B2-4E72-B8FF-81736FC81FE7}"/>
              </a:ext>
            </a:extLst>
          </p:cNvPr>
          <p:cNvSpPr>
            <a:spLocks noGrp="1"/>
          </p:cNvSpPr>
          <p:nvPr/>
        </p:nvSpPr>
        <p:spPr>
          <a:xfrm>
            <a:off x="7556875" y="5229226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CORTE ZONA GRIS</a:t>
            </a: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CEAA78BD-53AB-4BBD-8AC7-B3DD712D31F2}"/>
              </a:ext>
            </a:extLst>
          </p:cNvPr>
          <p:cNvSpPr>
            <a:spLocks noGrp="1"/>
          </p:cNvSpPr>
          <p:nvPr/>
        </p:nvSpPr>
        <p:spPr>
          <a:xfrm>
            <a:off x="8814175" y="4752976"/>
            <a:ext cx="1123950" cy="28575"/>
          </a:xfrm>
          <a:prstGeom prst="rect">
            <a:avLst/>
          </a:prstGeom>
          <a:solidFill>
            <a:srgbClr val="4C5D4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FEFB4AA5-CCD9-41AE-9E7F-08D84B0B3CD3}"/>
              </a:ext>
            </a:extLst>
          </p:cNvPr>
          <p:cNvSpPr>
            <a:spLocks noGrp="1"/>
          </p:cNvSpPr>
          <p:nvPr/>
        </p:nvSpPr>
        <p:spPr>
          <a:xfrm>
            <a:off x="8814175" y="4781551"/>
            <a:ext cx="112395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8D27AEDC-4601-457C-BF10-A4A954D950BC}"/>
              </a:ext>
            </a:extLst>
          </p:cNvPr>
          <p:cNvSpPr>
            <a:spLocks noGrp="1"/>
          </p:cNvSpPr>
          <p:nvPr/>
        </p:nvSpPr>
        <p:spPr>
          <a:xfrm>
            <a:off x="8890375" y="4905376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1.140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05770E22-B5A2-47E7-89CC-94BB1FAAEB1C}"/>
              </a:ext>
            </a:extLst>
          </p:cNvPr>
          <p:cNvSpPr>
            <a:spLocks noGrp="1"/>
          </p:cNvSpPr>
          <p:nvPr/>
        </p:nvSpPr>
        <p:spPr>
          <a:xfrm>
            <a:off x="8890375" y="5229226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TP EN TEST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6724B682-4A5A-4204-8339-3AB9C9B81C38}"/>
              </a:ext>
            </a:extLst>
          </p:cNvPr>
          <p:cNvSpPr>
            <a:spLocks noGrp="1"/>
          </p:cNvSpPr>
          <p:nvPr/>
        </p:nvSpPr>
        <p:spPr>
          <a:xfrm>
            <a:off x="10147675" y="4752976"/>
            <a:ext cx="1123950" cy="28575"/>
          </a:xfrm>
          <a:prstGeom prst="rect">
            <a:avLst/>
          </a:prstGeom>
          <a:solidFill>
            <a:srgbClr val="2D465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FA32FC1D-6785-4BC6-BA2D-6E55A0363043}"/>
              </a:ext>
            </a:extLst>
          </p:cNvPr>
          <p:cNvSpPr>
            <a:spLocks noGrp="1"/>
          </p:cNvSpPr>
          <p:nvPr/>
        </p:nvSpPr>
        <p:spPr>
          <a:xfrm>
            <a:off x="10147675" y="4781551"/>
            <a:ext cx="1123950" cy="666750"/>
          </a:xfrm>
          <a:prstGeom prst="rect">
            <a:avLst/>
          </a:prstGeom>
          <a:solidFill>
            <a:srgbClr val="FBF8F0">
              <a:alpha val="62745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328B215-71B4-482F-9241-9107DABEDDC7}"/>
              </a:ext>
            </a:extLst>
          </p:cNvPr>
          <p:cNvSpPr>
            <a:spLocks noGrp="1"/>
          </p:cNvSpPr>
          <p:nvPr/>
        </p:nvSpPr>
        <p:spPr>
          <a:xfrm>
            <a:off x="10223875" y="4905376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833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8166232D-A632-49E1-B555-C02079E509B2}"/>
              </a:ext>
            </a:extLst>
          </p:cNvPr>
          <p:cNvSpPr>
            <a:spLocks noGrp="1"/>
          </p:cNvSpPr>
          <p:nvPr/>
        </p:nvSpPr>
        <p:spPr>
          <a:xfrm>
            <a:off x="10223875" y="5229226"/>
            <a:ext cx="971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defRPr>
            </a:pPr>
            <a:r>
              <a:rPr sz="548" b="1">
                <a:solidFill>
                  <a:srgbClr val="756E66"/>
                </a:solidFill>
                <a:latin typeface="Avenir Next"/>
                <a:ea typeface="Avenir Next"/>
                <a:cs typeface="Avenir Next"/>
              </a:rPr>
              <a:t>FP EN TEST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13AA3DD-C4C2-4698-9EA5-7736691E066C}"/>
              </a:ext>
            </a:extLst>
          </p:cNvPr>
          <p:cNvSpPr>
            <a:spLocks noGrp="1"/>
          </p:cNvSpPr>
          <p:nvPr/>
        </p:nvSpPr>
        <p:spPr>
          <a:xfrm>
            <a:off x="552450" y="5410199"/>
            <a:ext cx="5086350" cy="1019175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DE8C0C7B-F551-4D68-94BA-8499415E8BF8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508635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E8BF6B54-54FE-444F-BE7E-5D512378F3B2}"/>
              </a:ext>
            </a:extLst>
          </p:cNvPr>
          <p:cNvSpPr>
            <a:spLocks noGrp="1"/>
          </p:cNvSpPr>
          <p:nvPr/>
        </p:nvSpPr>
        <p:spPr>
          <a:xfrm>
            <a:off x="742950" y="56007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Limitaciones</a:t>
            </a:r>
          </a:p>
        </p:txBody>
      </p:sp>
      <p:sp>
        <p:nvSpPr>
          <p:cNvPr id="78" name="Rectángulo 77">
            <a:extLst>
              <a:ext uri="{FF2B5EF4-FFF2-40B4-BE49-F238E27FC236}">
                <a16:creationId xmlns:a16="http://schemas.microsoft.com/office/drawing/2014/main" id="{A0B9FF9F-C9E9-443E-991D-B3F9D4DE9620}"/>
              </a:ext>
            </a:extLst>
          </p:cNvPr>
          <p:cNvSpPr>
            <a:spLocks noGrp="1"/>
          </p:cNvSpPr>
          <p:nvPr/>
        </p:nvSpPr>
        <p:spPr>
          <a:xfrm>
            <a:off x="742950" y="59245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79" name="Rectángulo 78">
            <a:extLst>
              <a:ext uri="{FF2B5EF4-FFF2-40B4-BE49-F238E27FC236}">
                <a16:creationId xmlns:a16="http://schemas.microsoft.com/office/drawing/2014/main" id="{7767E3DC-37ED-4544-B99D-D3EE561333C6}"/>
              </a:ext>
            </a:extLst>
          </p:cNvPr>
          <p:cNvSpPr>
            <a:spLocks noGrp="1"/>
          </p:cNvSpPr>
          <p:nvPr/>
        </p:nvSpPr>
        <p:spPr>
          <a:xfrm>
            <a:off x="933450" y="5934075"/>
            <a:ext cx="432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Dataset sintético: exige validación externa y temporal.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870AE770-2646-4B8A-A3C7-72028E3973A5}"/>
              </a:ext>
            </a:extLst>
          </p:cNvPr>
          <p:cNvSpPr>
            <a:spLocks noGrp="1"/>
          </p:cNvSpPr>
          <p:nvPr/>
        </p:nvSpPr>
        <p:spPr>
          <a:xfrm>
            <a:off x="742950" y="60769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07B8DC7C-2A62-44BF-A8FB-BC938483C8AF}"/>
              </a:ext>
            </a:extLst>
          </p:cNvPr>
          <p:cNvSpPr>
            <a:spLocks noGrp="1"/>
          </p:cNvSpPr>
          <p:nvPr/>
        </p:nvSpPr>
        <p:spPr>
          <a:xfrm>
            <a:off x="933450" y="6086475"/>
            <a:ext cx="432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Faltan imagen médica, síntomas, tratamientos y estadio tumoral.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FCDEADBA-905F-4DAA-94DD-3D54E5307025}"/>
              </a:ext>
            </a:extLst>
          </p:cNvPr>
          <p:cNvSpPr>
            <a:spLocks noGrp="1"/>
          </p:cNvSpPr>
          <p:nvPr/>
        </p:nvSpPr>
        <p:spPr>
          <a:xfrm>
            <a:off x="742950" y="6229350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69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23A13C65-7043-41FD-BB26-B6E25C6826B4}"/>
              </a:ext>
            </a:extLst>
          </p:cNvPr>
          <p:cNvSpPr>
            <a:spLocks noGrp="1"/>
          </p:cNvSpPr>
          <p:nvPr/>
        </p:nvSpPr>
        <p:spPr>
          <a:xfrm>
            <a:off x="933450" y="6238875"/>
            <a:ext cx="4324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9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Variables económicas excluidas por posible fuga post-diagnóstico.</a:t>
            </a:r>
          </a:p>
        </p:txBody>
      </p:sp>
      <p:sp>
        <p:nvSpPr>
          <p:cNvPr id="84" name="Rectángulo 83">
            <a:extLst>
              <a:ext uri="{FF2B5EF4-FFF2-40B4-BE49-F238E27FC236}">
                <a16:creationId xmlns:a16="http://schemas.microsoft.com/office/drawing/2014/main" id="{81A10389-7FC6-4998-8CC5-16C14A794DD4}"/>
              </a:ext>
            </a:extLst>
          </p:cNvPr>
          <p:cNvSpPr>
            <a:spLocks noGrp="1"/>
          </p:cNvSpPr>
          <p:nvPr/>
        </p:nvSpPr>
        <p:spPr>
          <a:xfrm>
            <a:off x="5949835" y="5553074"/>
            <a:ext cx="5638800" cy="876300"/>
          </a:xfrm>
          <a:prstGeom prst="rect">
            <a:avLst/>
          </a:prstGeom>
          <a:solidFill>
            <a:srgbClr val="FBF8F0">
              <a:alpha val="66667"/>
            </a:srgbClr>
          </a:solidFill>
          <a:ln w="9525">
            <a:solidFill>
              <a:srgbClr val="211D1A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ECFB88A8-A864-41D5-A7C7-5B22D92C6F92}"/>
              </a:ext>
            </a:extLst>
          </p:cNvPr>
          <p:cNvSpPr>
            <a:spLocks noGrp="1"/>
          </p:cNvSpPr>
          <p:nvPr/>
        </p:nvSpPr>
        <p:spPr>
          <a:xfrm>
            <a:off x="5949835" y="5553074"/>
            <a:ext cx="5638800" cy="28575"/>
          </a:xfrm>
          <a:prstGeom prst="rect">
            <a:avLst/>
          </a:prstGeom>
          <a:solidFill>
            <a:srgbClr val="211D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C5DF1C19-F897-41F4-A520-ECC2F09DEBEA}"/>
              </a:ext>
            </a:extLst>
          </p:cNvPr>
          <p:cNvSpPr>
            <a:spLocks noGrp="1"/>
          </p:cNvSpPr>
          <p:nvPr/>
        </p:nvSpPr>
        <p:spPr>
          <a:xfrm>
            <a:off x="6140335" y="5743574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11D1A"/>
                </a:solidFill>
                <a:latin typeface="Avenir Next"/>
                <a:ea typeface="Avenir Next"/>
                <a:cs typeface="Avenir Next"/>
              </a:rPr>
              <a:t>Veredicto</a:t>
            </a:r>
          </a:p>
        </p:txBody>
      </p:sp>
      <p:sp>
        <p:nvSpPr>
          <p:cNvPr id="87" name="Rectángulo 86">
            <a:extLst>
              <a:ext uri="{FF2B5EF4-FFF2-40B4-BE49-F238E27FC236}">
                <a16:creationId xmlns:a16="http://schemas.microsoft.com/office/drawing/2014/main" id="{37B9E712-CD27-4235-9B55-A19C3CBECDB6}"/>
              </a:ext>
            </a:extLst>
          </p:cNvPr>
          <p:cNvSpPr>
            <a:spLocks noGrp="1"/>
          </p:cNvSpPr>
          <p:nvPr/>
        </p:nvSpPr>
        <p:spPr>
          <a:xfrm>
            <a:off x="6140335" y="6067424"/>
            <a:ext cx="5048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765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Los datos demuestran viabilidad técnica y permiten comparar estrategias. No bastan para despliegue clínico autónomo sin validación real por hospital, periodo y población.</a:t>
            </a:r>
          </a:p>
        </p:txBody>
      </p:sp>
    </p:spTree>
    <p:extLst>
      <p:ext uri="{BB962C8B-B14F-4D97-AF65-F5344CB8AC3E}">
        <p14:creationId xmlns:p14="http://schemas.microsoft.com/office/powerpoint/2010/main" val="632563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374F4CC4-EE99-4C91-871C-1FCB5C05C8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ECD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488307-6427-47FA-98B0-0CB62EBF98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E5DDC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FC46B37-EF35-406C-8386-27CFF5E43CC5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9525" cy="6019800"/>
          </a:xfrm>
          <a:prstGeom prst="rect">
            <a:avLst/>
          </a:prstGeom>
          <a:solidFill>
            <a:srgbClr val="CBAF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94C89A9-7AC3-4457-975B-88C4C4B2FA01}"/>
              </a:ext>
            </a:extLst>
          </p:cNvPr>
          <p:cNvSpPr>
            <a:spLocks noGrp="1"/>
          </p:cNvSpPr>
          <p:nvPr/>
        </p:nvSpPr>
        <p:spPr>
          <a:xfrm>
            <a:off x="552450" y="6096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CIERRE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11EDBBA-8C99-49C5-B865-1DA45C0065F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9620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211D1A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1D1A"/>
                </a:solidFill>
                <a:latin typeface="Georgia"/>
                <a:ea typeface="Georgia"/>
                <a:cs typeface="Georgia"/>
              </a:rPr>
              <a:t>El modelo no sustituye el criterio clínico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4FC050-2C4A-4C84-8A4E-C74380F9C906}"/>
              </a:ext>
            </a:extLst>
          </p:cNvPr>
          <p:cNvSpPr>
            <a:spLocks noGrp="1"/>
          </p:cNvSpPr>
          <p:nvPr/>
        </p:nvSpPr>
        <p:spPr>
          <a:xfrm>
            <a:off x="552450" y="21145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4B1921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4B1921"/>
                </a:solidFill>
                <a:latin typeface="Georgia"/>
                <a:ea typeface="Georgia"/>
                <a:cs typeface="Georgia"/>
              </a:rPr>
              <a:t>Ordena el riesgo, prioriza la revisión y demuestra que los datos pueden aportar valor al cribado.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B6E16D-0AFE-45E3-82D5-48FDDC9470ED}"/>
              </a:ext>
            </a:extLst>
          </p:cNvPr>
          <p:cNvSpPr>
            <a:spLocks noGrp="1"/>
          </p:cNvSpPr>
          <p:nvPr/>
        </p:nvSpPr>
        <p:spPr>
          <a:xfrm>
            <a:off x="552450" y="3181350"/>
            <a:ext cx="11049000" cy="28575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45225AC-4251-470D-8B60-C47513AB9239}"/>
              </a:ext>
            </a:extLst>
          </p:cNvPr>
          <p:cNvSpPr>
            <a:spLocks noGrp="1"/>
          </p:cNvSpPr>
          <p:nvPr/>
        </p:nvSpPr>
        <p:spPr>
          <a:xfrm>
            <a:off x="781050" y="36766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B6B0F37-659A-4B89-AB81-C04EC1D23BBF}"/>
              </a:ext>
            </a:extLst>
          </p:cNvPr>
          <p:cNvSpPr>
            <a:spLocks noGrp="1"/>
          </p:cNvSpPr>
          <p:nvPr/>
        </p:nvSpPr>
        <p:spPr>
          <a:xfrm>
            <a:off x="1009650" y="3686175"/>
            <a:ext cx="862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Viabilidad técnica demostrada: los modelos separan señal útil en un problema desbalanceado.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F755325-A4E1-4EF0-BA24-E4FEB38B253B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50EFE77-61E1-4BCA-9A4B-AD36614BF310}"/>
              </a:ext>
            </a:extLst>
          </p:cNvPr>
          <p:cNvSpPr>
            <a:spLocks noGrp="1"/>
          </p:cNvSpPr>
          <p:nvPr/>
        </p:nvSpPr>
        <p:spPr>
          <a:xfrm>
            <a:off x="1009650" y="4162425"/>
            <a:ext cx="862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Modelo recomendado: XGBoost AUC por equilibrio entre F1, precisión y AUC-ROC.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DA3105-C168-4CEA-A1A9-EE05613F127C}"/>
              </a:ext>
            </a:extLst>
          </p:cNvPr>
          <p:cNvSpPr>
            <a:spLocks noGrp="1"/>
          </p:cNvSpPr>
          <p:nvPr/>
        </p:nvSpPr>
        <p:spPr>
          <a:xfrm>
            <a:off x="781050" y="46291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1F2B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A303682-6AD6-4803-8E61-1EB433226BA5}"/>
              </a:ext>
            </a:extLst>
          </p:cNvPr>
          <p:cNvSpPr>
            <a:spLocks noGrp="1"/>
          </p:cNvSpPr>
          <p:nvPr/>
        </p:nvSpPr>
        <p:spPr>
          <a:xfrm>
            <a:off x="1009650" y="4638675"/>
            <a:ext cx="8629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F484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4F4841"/>
                </a:solidFill>
                <a:latin typeface="Avenir Next"/>
                <a:ea typeface="Avenir Next"/>
                <a:cs typeface="Avenir Next"/>
              </a:rPr>
              <a:t>Condición imprescindible: validación externa, temporal y clínica antes de cualquier despliegue real.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6CE4485-2160-436E-8263-A33A87F12D8D}"/>
              </a:ext>
            </a:extLst>
          </p:cNvPr>
          <p:cNvSpPr>
            <a:spLocks noGrp="1"/>
          </p:cNvSpPr>
          <p:nvPr/>
        </p:nvSpPr>
        <p:spPr>
          <a:xfrm>
            <a:off x="781050" y="5448300"/>
            <a:ext cx="9525000" cy="514350"/>
          </a:xfrm>
          <a:prstGeom prst="rect">
            <a:avLst/>
          </a:prstGeom>
          <a:solidFill>
            <a:srgbClr val="E8D9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7FBD6EE-7407-41FD-BC60-47B40E042142}"/>
              </a:ext>
            </a:extLst>
          </p:cNvPr>
          <p:cNvSpPr>
            <a:spLocks noGrp="1"/>
          </p:cNvSpPr>
          <p:nvPr/>
        </p:nvSpPr>
        <p:spPr>
          <a:xfrm>
            <a:off x="781050" y="5448300"/>
            <a:ext cx="38100" cy="514350"/>
          </a:xfrm>
          <a:prstGeom prst="rect">
            <a:avLst/>
          </a:prstGeom>
          <a:solidFill>
            <a:srgbClr val="7A1F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1470AFB-147D-4726-A84B-0A3435259FCC}"/>
              </a:ext>
            </a:extLst>
          </p:cNvPr>
          <p:cNvSpPr>
            <a:spLocks noGrp="1"/>
          </p:cNvSpPr>
          <p:nvPr/>
        </p:nvSpPr>
        <p:spPr>
          <a:xfrm>
            <a:off x="990600" y="5600700"/>
            <a:ext cx="895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B192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4B1921"/>
                </a:solidFill>
                <a:latin typeface="Avenir Next"/>
                <a:ea typeface="Avenir Next"/>
                <a:cs typeface="Avenir Next"/>
              </a:rPr>
              <a:t>Conclusión general: herramienta de apoyo y priorización, no diagnóstico autónomo.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12D55F-D209-4412-8622-D30BE0C723E2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defRPr>
            </a:pPr>
            <a:r>
              <a:rPr sz="525" b="0">
                <a:solidFill>
                  <a:srgbClr val="8E877E"/>
                </a:solidFill>
                <a:latin typeface="Avenir Next"/>
                <a:ea typeface="Avenir Next"/>
                <a:cs typeface="Avenir Next"/>
              </a:rPr>
              <a:t>Predicción de diagnóstico de cáncer · cierre</a:t>
            </a:r>
          </a:p>
        </p:txBody>
      </p:sp>
    </p:spTree>
    <p:extLst>
      <p:ext uri="{BB962C8B-B14F-4D97-AF65-F5344CB8AC3E}">
        <p14:creationId xmlns:p14="http://schemas.microsoft.com/office/powerpoint/2010/main" val="21233587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1080</Words>
  <Application>Microsoft Macintosh PowerPoint</Application>
  <DocSecurity>0</DocSecurity>
  <PresentationFormat>Panorámica</PresentationFormat>
  <Paragraphs>307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Avenir Next</vt:lpstr>
      <vt:lpstr>Calibri</vt:lpstr>
      <vt:lpstr>Georgia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Jorge Sánchez Raboso</cp:lastModifiedBy>
  <cp:revision>1</cp:revision>
  <dcterms:created xsi:type="dcterms:W3CDTF">2026-05-20T20:15:35Z</dcterms:created>
  <dcterms:modified xsi:type="dcterms:W3CDTF">2026-05-20T20:43:09Z</dcterms:modified>
</cp:coreProperties>
</file>